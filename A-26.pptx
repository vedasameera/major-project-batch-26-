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7" r:id="rId2"/>
    <p:sldId id="291" r:id="rId3"/>
    <p:sldId id="283" r:id="rId4"/>
    <p:sldId id="258" r:id="rId5"/>
    <p:sldId id="259" r:id="rId6"/>
    <p:sldId id="284" r:id="rId7"/>
    <p:sldId id="292" r:id="rId8"/>
    <p:sldId id="261" r:id="rId9"/>
    <p:sldId id="276" r:id="rId10"/>
    <p:sldId id="286" r:id="rId11"/>
    <p:sldId id="285" r:id="rId12"/>
    <p:sldId id="294" r:id="rId13"/>
    <p:sldId id="287" r:id="rId14"/>
    <p:sldId id="288" r:id="rId15"/>
    <p:sldId id="267" r:id="rId16"/>
    <p:sldId id="268" r:id="rId17"/>
    <p:sldId id="266" r:id="rId18"/>
    <p:sldId id="289" r:id="rId19"/>
    <p:sldId id="290" r:id="rId20"/>
    <p:sldId id="269" r:id="rId21"/>
    <p:sldId id="270"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showGuides="1">
      <p:cViewPr varScale="1">
        <p:scale>
          <a:sx n="68" d="100"/>
          <a:sy n="68" d="100"/>
        </p:scale>
        <p:origin x="816" y="10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4/20/2026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2AA3022D-8DF2-4C37-BB02-43F87B9AED5F}" type="slidenum">
              <a:rPr lang="en-IN" smtClean="0"/>
              <a:t>1</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4/20/2026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4/20/2026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4/20/2026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4/20/2026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653782"/>
            <a:ext cx="9144000" cy="2386329"/>
          </a:xfrm>
        </p:spPr>
        <p:txBody>
          <a:bodyPr>
            <a:normAutofit/>
          </a:bodyPr>
          <a:lstStyle/>
          <a:p>
            <a:r>
              <a:rPr lang="en-IN" sz="3300" b="1" dirty="0">
                <a:solidFill>
                  <a:srgbClr val="0000FF"/>
                </a:solidFill>
                <a:latin typeface="Times New Roman" panose="02020603050405020304" pitchFamily="18" charset="0"/>
                <a:cs typeface="Times New Roman" panose="02020603050405020304" pitchFamily="18" charset="0"/>
              </a:rPr>
              <a:t>Department of Information Technology</a:t>
            </a:r>
            <a:br>
              <a:rPr lang="en-IN" sz="3300" b="1" dirty="0">
                <a:solidFill>
                  <a:srgbClr val="0000FF"/>
                </a:solidFill>
                <a:latin typeface="Times New Roman" panose="02020603050405020304" pitchFamily="18" charset="0"/>
                <a:cs typeface="Times New Roman" panose="02020603050405020304" pitchFamily="18" charset="0"/>
              </a:rPr>
            </a:br>
            <a:r>
              <a:rPr lang="en-IN" sz="3300" b="1" dirty="0">
                <a:solidFill>
                  <a:srgbClr val="FF0000"/>
                </a:solidFill>
                <a:latin typeface="Times New Roman" panose="02020603050405020304" pitchFamily="18" charset="0"/>
                <a:cs typeface="Times New Roman" panose="02020603050405020304" pitchFamily="18" charset="0"/>
              </a:rPr>
              <a:t>V R Siddhartha Engineering College </a:t>
            </a:r>
            <a:br>
              <a:rPr lang="en-IN" sz="3300" b="1" dirty="0">
                <a:solidFill>
                  <a:srgbClr val="FF0000"/>
                </a:solidFill>
                <a:latin typeface="Times New Roman" panose="02020603050405020304" pitchFamily="18" charset="0"/>
                <a:cs typeface="Times New Roman" panose="02020603050405020304" pitchFamily="18" charset="0"/>
              </a:rPr>
            </a:br>
            <a:endParaRPr lang="en-IN" sz="33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2256153" y="1483245"/>
            <a:ext cx="8164060" cy="4653312"/>
          </a:xfrm>
        </p:spPr>
        <p:txBody>
          <a:bodyPr>
            <a:normAutofit fontScale="75000" lnSpcReduction="20000"/>
          </a:bodyPr>
          <a:lstStyle/>
          <a:p>
            <a:r>
              <a:rPr lang="en-US" altLang="en-US" sz="3600" dirty="0">
                <a:solidFill>
                  <a:schemeClr val="tx1"/>
                </a:solidFill>
                <a:latin typeface="Times New Roman" panose="02020603050405020304" pitchFamily="18" charset="0"/>
                <a:cs typeface="Times New Roman" panose="02020603050405020304" pitchFamily="18" charset="0"/>
              </a:rPr>
              <a:t>Mobile-Based AI System for Lung Disease Diagnosis</a:t>
            </a:r>
          </a:p>
          <a:p>
            <a:r>
              <a:rPr lang="en-IN" sz="3600" dirty="0">
                <a:solidFill>
                  <a:schemeClr val="accent6"/>
                </a:solidFill>
                <a:latin typeface="Times New Roman" panose="02020603050405020304" pitchFamily="18" charset="0"/>
                <a:cs typeface="Times New Roman" panose="02020603050405020304" pitchFamily="18" charset="0"/>
              </a:rPr>
              <a:t>Deep learning</a:t>
            </a:r>
          </a:p>
          <a:p>
            <a:endParaRPr lang="en-US" sz="3100" dirty="0">
              <a:solidFill>
                <a:schemeClr val="accent6"/>
              </a:solidFill>
              <a:latin typeface="Times New Roman" panose="02020603050405020304" pitchFamily="18" charset="0"/>
              <a:cs typeface="Times New Roman" panose="02020603050405020304" pitchFamily="18" charset="0"/>
            </a:endParaRPr>
          </a:p>
          <a:p>
            <a:pPr algn="ctr"/>
            <a:r>
              <a:rPr lang="en-US" sz="2500" b="1" dirty="0" err="1">
                <a:solidFill>
                  <a:srgbClr val="FF0000"/>
                </a:solidFill>
                <a:latin typeface="Times New Roman" panose="02020603050405020304" pitchFamily="18" charset="0"/>
                <a:cs typeface="Times New Roman" panose="02020603050405020304" pitchFamily="18" charset="0"/>
              </a:rPr>
              <a:t>B.Tech</a:t>
            </a:r>
            <a:r>
              <a:rPr lang="en-US" sz="2500" b="1" dirty="0">
                <a:solidFill>
                  <a:srgbClr val="FF0000"/>
                </a:solidFill>
                <a:latin typeface="Times New Roman" panose="02020603050405020304" pitchFamily="18" charset="0"/>
                <a:cs typeface="Times New Roman" panose="02020603050405020304" pitchFamily="18" charset="0"/>
              </a:rPr>
              <a:t> in Information Technology</a:t>
            </a:r>
          </a:p>
          <a:p>
            <a:pPr algn="ctr"/>
            <a:r>
              <a:rPr lang="en-US" sz="2500" b="1" dirty="0">
                <a:solidFill>
                  <a:srgbClr val="BF11A6"/>
                </a:solidFill>
                <a:latin typeface="Times New Roman" panose="02020603050405020304" pitchFamily="18" charset="0"/>
                <a:cs typeface="Times New Roman" panose="02020603050405020304" pitchFamily="18" charset="0"/>
              </a:rPr>
              <a:t>Major Project Review Presentation</a:t>
            </a:r>
          </a:p>
          <a:p>
            <a:pPr algn="ctr"/>
            <a:endParaRPr lang="en-US" sz="2200" b="1" dirty="0">
              <a:solidFill>
                <a:srgbClr val="BF11A6"/>
              </a:solidFill>
              <a:latin typeface="Times New Roman" panose="02020603050405020304" pitchFamily="18" charset="0"/>
              <a:cs typeface="Times New Roman" panose="02020603050405020304" pitchFamily="18" charset="0"/>
            </a:endParaRPr>
          </a:p>
          <a:p>
            <a:r>
              <a:rPr lang="en-US" sz="3600" dirty="0">
                <a:solidFill>
                  <a:schemeClr val="tx1"/>
                </a:solidFill>
                <a:latin typeface="Times New Roman" panose="02020603050405020304" pitchFamily="18" charset="0"/>
                <a:cs typeface="Times New Roman" panose="02020603050405020304" pitchFamily="18" charset="0"/>
              </a:rPr>
              <a:t>PRESENTED BY</a:t>
            </a:r>
            <a:endParaRPr lang="en-US" sz="2800" b="1" dirty="0">
              <a:solidFill>
                <a:srgbClr val="7030A0"/>
              </a:solidFill>
              <a:latin typeface="Times New Roman" panose="02020603050405020304" pitchFamily="18" charset="0"/>
              <a:cs typeface="Times New Roman" panose="02020603050405020304" pitchFamily="18" charset="0"/>
            </a:endParaRPr>
          </a:p>
          <a:p>
            <a:pPr algn="ctr"/>
            <a:r>
              <a:rPr lang="en-US" sz="2800" b="1" dirty="0">
                <a:solidFill>
                  <a:srgbClr val="7030A0"/>
                </a:solidFill>
                <a:latin typeface="Times New Roman" panose="02020603050405020304" pitchFamily="18" charset="0"/>
                <a:cs typeface="Times New Roman" panose="02020603050405020304" pitchFamily="18" charset="0"/>
              </a:rPr>
              <a:t>Ms. Veda Sameera </a:t>
            </a:r>
            <a:r>
              <a:rPr lang="en-US" sz="2800" b="1" dirty="0" err="1">
                <a:solidFill>
                  <a:srgbClr val="7030A0"/>
                </a:solidFill>
                <a:latin typeface="Times New Roman" panose="02020603050405020304" pitchFamily="18" charset="0"/>
                <a:cs typeface="Times New Roman" panose="02020603050405020304" pitchFamily="18" charset="0"/>
              </a:rPr>
              <a:t>Jalasutram</a:t>
            </a:r>
            <a:r>
              <a:rPr lang="en-US" sz="2800" b="1" dirty="0">
                <a:solidFill>
                  <a:srgbClr val="7030A0"/>
                </a:solidFill>
                <a:latin typeface="Times New Roman" panose="02020603050405020304" pitchFamily="18" charset="0"/>
                <a:cs typeface="Times New Roman" panose="02020603050405020304" pitchFamily="18" charset="0"/>
              </a:rPr>
              <a:t>(228W1A1263)</a:t>
            </a:r>
          </a:p>
          <a:p>
            <a:r>
              <a:rPr lang="en-US" sz="2800" b="1" dirty="0">
                <a:solidFill>
                  <a:srgbClr val="7030A0"/>
                </a:solidFill>
                <a:latin typeface="Times New Roman" panose="02020603050405020304" pitchFamily="18" charset="0"/>
                <a:cs typeface="Times New Roman" panose="02020603050405020304" pitchFamily="18" charset="0"/>
              </a:rPr>
              <a:t>Ms. Chandi </a:t>
            </a:r>
            <a:r>
              <a:rPr lang="en-US" sz="2800" b="1" dirty="0" err="1">
                <a:solidFill>
                  <a:srgbClr val="7030A0"/>
                </a:solidFill>
                <a:latin typeface="Times New Roman" panose="02020603050405020304" pitchFamily="18" charset="0"/>
                <a:cs typeface="Times New Roman" panose="02020603050405020304" pitchFamily="18" charset="0"/>
              </a:rPr>
              <a:t>priya</a:t>
            </a:r>
            <a:r>
              <a:rPr lang="en-US" sz="2800" b="1" dirty="0">
                <a:solidFill>
                  <a:srgbClr val="7030A0"/>
                </a:solidFill>
                <a:latin typeface="Times New Roman" panose="02020603050405020304" pitchFamily="18" charset="0"/>
                <a:cs typeface="Times New Roman" panose="02020603050405020304" pitchFamily="18" charset="0"/>
              </a:rPr>
              <a:t> </a:t>
            </a:r>
            <a:r>
              <a:rPr lang="en-US" sz="2800" b="1" dirty="0" err="1">
                <a:solidFill>
                  <a:srgbClr val="7030A0"/>
                </a:solidFill>
                <a:latin typeface="Times New Roman" panose="02020603050405020304" pitchFamily="18" charset="0"/>
                <a:cs typeface="Times New Roman" panose="02020603050405020304" pitchFamily="18" charset="0"/>
              </a:rPr>
              <a:t>Kethavath</a:t>
            </a:r>
            <a:r>
              <a:rPr lang="en-US" sz="2800" b="1" dirty="0">
                <a:solidFill>
                  <a:srgbClr val="7030A0"/>
                </a:solidFill>
                <a:latin typeface="Times New Roman" panose="02020603050405020304" pitchFamily="18" charset="0"/>
                <a:cs typeface="Times New Roman" panose="02020603050405020304" pitchFamily="18" charset="0"/>
              </a:rPr>
              <a:t>(228W1A1227)</a:t>
            </a:r>
          </a:p>
          <a:p>
            <a:pPr algn="ctr"/>
            <a:endParaRPr lang="en-US" sz="2800" b="1" dirty="0">
              <a:solidFill>
                <a:srgbClr val="7030A0"/>
              </a:solidFill>
              <a:latin typeface="Times New Roman" panose="02020603050405020304" pitchFamily="18" charset="0"/>
              <a:cs typeface="Times New Roman" panose="02020603050405020304" pitchFamily="18" charset="0"/>
            </a:endParaRPr>
          </a:p>
          <a:p>
            <a:pPr algn="ctr"/>
            <a:r>
              <a:rPr lang="en-US" sz="2400" b="1" dirty="0">
                <a:latin typeface="Times New Roman" panose="02020603050405020304" pitchFamily="18" charset="0"/>
                <a:cs typeface="Times New Roman" panose="02020603050405020304" pitchFamily="18" charset="0"/>
              </a:rPr>
              <a:t>Under the guidance of </a:t>
            </a:r>
          </a:p>
          <a:p>
            <a:pPr algn="ctr"/>
            <a:r>
              <a:rPr lang="en-US" sz="2000" b="1" dirty="0">
                <a:solidFill>
                  <a:srgbClr val="FF0000"/>
                </a:solidFill>
                <a:latin typeface="Times New Roman" panose="02020603050405020304" pitchFamily="18" charset="0"/>
                <a:cs typeface="Times New Roman" panose="02020603050405020304" pitchFamily="18" charset="0"/>
              </a:rPr>
              <a:t>Dr. Y.SANDEEP,</a:t>
            </a:r>
          </a:p>
          <a:p>
            <a:pPr algn="ctr"/>
            <a:r>
              <a:rPr lang="en-US" sz="2000" b="1" dirty="0">
                <a:solidFill>
                  <a:srgbClr val="FF0000"/>
                </a:solidFill>
                <a:latin typeface="Times New Roman" panose="02020603050405020304" pitchFamily="18" charset="0"/>
                <a:cs typeface="Times New Roman" panose="02020603050405020304" pitchFamily="18" charset="0"/>
              </a:rPr>
              <a:t>ASSISTANT PROFESSOR</a:t>
            </a:r>
            <a:endParaRPr lang="en-US" sz="2800" b="1" dirty="0">
              <a:solidFill>
                <a:schemeClr val="accent4">
                  <a:lumMod val="75000"/>
                </a:schemeClr>
              </a:solidFill>
              <a:latin typeface="Times New Roman" panose="02020603050405020304" pitchFamily="18" charset="0"/>
              <a:cs typeface="Times New Roman" panose="02020603050405020304" pitchFamily="18" charset="0"/>
            </a:endParaRPr>
          </a:p>
          <a:p>
            <a:pPr algn="ctr"/>
            <a:endParaRPr lang="en-US" sz="2800" b="1" dirty="0">
              <a:solidFill>
                <a:srgbClr val="BF11A6"/>
              </a:solidFill>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p:txBody>
      </p:sp>
      <p:pic>
        <p:nvPicPr>
          <p:cNvPr id="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1394" y="429195"/>
            <a:ext cx="1600199" cy="8661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4" descr="Image result for vrsec"/>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294136" y="241278"/>
            <a:ext cx="1068572" cy="12419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E3438-8FFF-E123-6BAB-49D6B7851F47}"/>
              </a:ext>
            </a:extLst>
          </p:cNvPr>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AGENDA:</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581F28D-41C0-7D58-14BD-BF4D16574BEE}"/>
              </a:ext>
            </a:extLst>
          </p:cNvPr>
          <p:cNvSpPr>
            <a:spLocks noGrp="1"/>
          </p:cNvSpPr>
          <p:nvPr>
            <p:ph idx="1"/>
          </p:nvPr>
        </p:nvSpPr>
        <p:spPr>
          <a:xfrm>
            <a:off x="838200" y="1690688"/>
            <a:ext cx="10515600" cy="4351338"/>
          </a:xfrm>
        </p:spPr>
        <p:txBody>
          <a:bodyPr>
            <a:noAutofit/>
          </a:bodyPr>
          <a:lstStyle/>
          <a:p>
            <a:pPr fontAlgn="base"/>
            <a:r>
              <a:rPr lang="en-US" sz="2200" dirty="0">
                <a:latin typeface="Times New Roman" panose="02020603050405020304" pitchFamily="18" charset="0"/>
                <a:cs typeface="Times New Roman" panose="02020603050405020304" pitchFamily="18" charset="0"/>
              </a:rPr>
              <a:t>Introduction</a:t>
            </a:r>
          </a:p>
          <a:p>
            <a:pPr fontAlgn="base"/>
            <a:r>
              <a:rPr lang="en-US" sz="2200" dirty="0">
                <a:latin typeface="Times New Roman" panose="02020603050405020304" pitchFamily="18" charset="0"/>
                <a:cs typeface="Times New Roman" panose="02020603050405020304" pitchFamily="18" charset="0"/>
              </a:rPr>
              <a:t>Problem Statement</a:t>
            </a:r>
          </a:p>
          <a:p>
            <a:pPr fontAlgn="base"/>
            <a:r>
              <a:rPr lang="en-US" sz="2200" dirty="0">
                <a:latin typeface="Times New Roman" panose="02020603050405020304" pitchFamily="18" charset="0"/>
                <a:cs typeface="Times New Roman" panose="02020603050405020304" pitchFamily="18" charset="0"/>
              </a:rPr>
              <a:t>Objectives &amp; Outcomes of the project</a:t>
            </a:r>
          </a:p>
          <a:p>
            <a:pPr fontAlgn="base"/>
            <a:r>
              <a:rPr lang="en-US" sz="2200" dirty="0">
                <a:latin typeface="Times New Roman" panose="02020603050405020304" pitchFamily="18" charset="0"/>
                <a:cs typeface="Times New Roman" panose="02020603050405020304" pitchFamily="18" charset="0"/>
              </a:rPr>
              <a:t>Literature Survey</a:t>
            </a:r>
          </a:p>
          <a:p>
            <a:pPr fontAlgn="base"/>
            <a:r>
              <a:rPr lang="en-US" sz="2200" dirty="0">
                <a:latin typeface="Times New Roman" panose="02020603050405020304" pitchFamily="18" charset="0"/>
                <a:cs typeface="Times New Roman" panose="02020603050405020304" pitchFamily="18" charset="0"/>
              </a:rPr>
              <a:t>Datasets and Requirements specifications</a:t>
            </a:r>
          </a:p>
          <a:p>
            <a:pPr fontAlgn="base"/>
            <a:r>
              <a:rPr lang="en-US" sz="2200" dirty="0">
                <a:latin typeface="Times New Roman" panose="02020603050405020304" pitchFamily="18" charset="0"/>
                <a:cs typeface="Times New Roman" panose="02020603050405020304" pitchFamily="18" charset="0"/>
              </a:rPr>
              <a:t>Algorithms involved</a:t>
            </a:r>
          </a:p>
          <a:p>
            <a:pPr fontAlgn="base"/>
            <a:r>
              <a:rPr lang="en-US" sz="2200" dirty="0">
                <a:latin typeface="Times New Roman" panose="02020603050405020304" pitchFamily="18" charset="0"/>
                <a:cs typeface="Times New Roman" panose="02020603050405020304" pitchFamily="18" charset="0"/>
              </a:rPr>
              <a:t>Architecture diagram </a:t>
            </a:r>
          </a:p>
          <a:p>
            <a:pPr fontAlgn="base"/>
            <a:r>
              <a:rPr lang="en-US" sz="2200" dirty="0">
                <a:latin typeface="Times New Roman" panose="02020603050405020304" pitchFamily="18" charset="0"/>
                <a:cs typeface="Times New Roman" panose="02020603050405020304" pitchFamily="18" charset="0"/>
              </a:rPr>
              <a:t>Complete Results Obtained</a:t>
            </a:r>
          </a:p>
          <a:p>
            <a:pPr fontAlgn="base"/>
            <a:r>
              <a:rPr lang="en-US" sz="2200" dirty="0">
                <a:latin typeface="Times New Roman" panose="02020603050405020304" pitchFamily="18" charset="0"/>
                <a:cs typeface="Times New Roman" panose="02020603050405020304" pitchFamily="18" charset="0"/>
              </a:rPr>
              <a:t>Result Analysis &amp; Observations</a:t>
            </a:r>
          </a:p>
          <a:p>
            <a:pPr fontAlgn="base"/>
            <a:r>
              <a:rPr lang="en-US" sz="2200" dirty="0">
                <a:latin typeface="Times New Roman" panose="02020603050405020304" pitchFamily="18" charset="0"/>
                <a:cs typeface="Times New Roman" panose="02020603050405020304" pitchFamily="18" charset="0"/>
              </a:rPr>
              <a:t>Conclusion &amp; Future Work</a:t>
            </a:r>
          </a:p>
          <a:p>
            <a:pPr fontAlgn="base"/>
            <a:r>
              <a:rPr lang="en-US" sz="2200" dirty="0">
                <a:latin typeface="Times New Roman" panose="02020603050405020304" pitchFamily="18" charset="0"/>
                <a:cs typeface="Times New Roman" panose="02020603050405020304" pitchFamily="18" charset="0"/>
              </a:rPr>
              <a:t>References</a:t>
            </a:r>
          </a:p>
          <a:p>
            <a:pPr marL="0" indent="0">
              <a:buNone/>
            </a:pPr>
            <a:br>
              <a:rPr lang="en-US" sz="2200" dirty="0">
                <a:latin typeface="Times New Roman" panose="02020603050405020304" pitchFamily="18" charset="0"/>
                <a:cs typeface="Times New Roman" panose="02020603050405020304" pitchFamily="18" charset="0"/>
              </a:rPr>
            </a:br>
            <a:br>
              <a:rPr lang="en-US" sz="2200" dirty="0">
                <a:latin typeface="Times New Roman" panose="02020603050405020304" pitchFamily="18" charset="0"/>
                <a:cs typeface="Times New Roman" panose="02020603050405020304" pitchFamily="18" charset="0"/>
              </a:rPr>
            </a:b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5625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6D84D-C6D5-0030-F208-DE54F9DAFF2A}"/>
              </a:ext>
            </a:extLst>
          </p:cNvPr>
          <p:cNvSpPr>
            <a:spLocks noGrp="1"/>
          </p:cNvSpPr>
          <p:nvPr>
            <p:ph type="title"/>
          </p:nvPr>
        </p:nvSpPr>
        <p:spPr>
          <a:xfrm>
            <a:off x="1063487" y="500062"/>
            <a:ext cx="10515600" cy="1325563"/>
          </a:xfrm>
        </p:spPr>
        <p:txBody>
          <a:bodyPr>
            <a:normAutofit/>
          </a:bodyPr>
          <a:lstStyle/>
          <a:p>
            <a:r>
              <a:rPr lang="en-US" sz="4000" b="1" dirty="0">
                <a:latin typeface="Times New Roman" panose="02020603050405020304" pitchFamily="18" charset="0"/>
                <a:cs typeface="Times New Roman" panose="02020603050405020304" pitchFamily="18" charset="0"/>
              </a:rPr>
              <a:t>INTRODUCTION</a:t>
            </a:r>
            <a:endParaRPr lang="en-IN" sz="4000" b="1" dirty="0"/>
          </a:p>
        </p:txBody>
      </p:sp>
      <p:sp>
        <p:nvSpPr>
          <p:cNvPr id="3" name="Content Placeholder 2">
            <a:extLst>
              <a:ext uri="{FF2B5EF4-FFF2-40B4-BE49-F238E27FC236}">
                <a16:creationId xmlns:a16="http://schemas.microsoft.com/office/drawing/2014/main" id="{BECC671E-D1CC-1DD0-129B-75B4B6EF6C27}"/>
              </a:ext>
            </a:extLst>
          </p:cNvPr>
          <p:cNvSpPr>
            <a:spLocks noGrp="1"/>
          </p:cNvSpPr>
          <p:nvPr>
            <p:ph idx="1"/>
          </p:nvPr>
        </p:nvSpPr>
        <p:spPr/>
        <p:txBody>
          <a:bodyPr/>
          <a:lstStyle/>
          <a:p>
            <a:pPr algn="just"/>
            <a:r>
              <a:rPr lang="en-US" sz="2400" dirty="0">
                <a:latin typeface="Times New Roman" panose="02020603050405020304" pitchFamily="18" charset="0"/>
                <a:cs typeface="Times New Roman" panose="02020603050405020304" pitchFamily="18" charset="0"/>
              </a:rPr>
              <a:t>The rapid advancement of artificial intelligence and deep learning has opened new possibilities in medical image analysis for diagnosing lung diseases. Lung diseases such as Pneumonia, Tuberculosis are among the leading causes of mortality worldwide, requiring timely and accurate diagnosis. Traditional diagnosis methods rely on radiologists to manually analyze chest X-rays, which is time-consuming and prone to human error. This project presents a Mobile-Based AI System using MobileNetV2 with CBAM attention mechanism to automatically classify chest X-ray images into five lung disease categories and generate AI-powered medical reports through an Android application.</a:t>
            </a:r>
          </a:p>
        </p:txBody>
      </p:sp>
    </p:spTree>
    <p:extLst>
      <p:ext uri="{BB962C8B-B14F-4D97-AF65-F5344CB8AC3E}">
        <p14:creationId xmlns:p14="http://schemas.microsoft.com/office/powerpoint/2010/main" val="36132844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PROBLEM STATEMENT</a:t>
            </a:r>
          </a:p>
        </p:txBody>
      </p:sp>
      <p:sp>
        <p:nvSpPr>
          <p:cNvPr id="3" name="Content Placeholder 2"/>
          <p:cNvSpPr>
            <a:spLocks noGrp="1"/>
          </p:cNvSpPr>
          <p:nvPr>
            <p:ph idx="1"/>
          </p:nvPr>
        </p:nvSpPr>
        <p:spPr/>
        <p:txBody>
          <a:bodyPr/>
          <a:lstStyle/>
          <a:p>
            <a:pPr algn="just"/>
            <a:r>
              <a:rPr lang="en-US" sz="2400" dirty="0">
                <a:latin typeface="Times New Roman" panose="02020603050405020304" pitchFamily="18" charset="0"/>
                <a:cs typeface="Times New Roman" panose="02020603050405020304" pitchFamily="18" charset="0"/>
              </a:rPr>
              <a:t>Accurate interpretation of chest X-ray images requires skilled radiologists who are often unavailable in rural and resource-limited areas. The growing number of lung disease cases globally demands automated, fast, and reliable diagnostic systems. Existing solutions lack mobile accessibility, support limited disease categories, and do not provide comprehensive medical reports. Therefore, there is a strong need for an intelligent mobile-based system that can automatically classify multiple lung diseases from chest X-rays and generate meaningful medical reports to assist patients and healthcare professionals in making timely decisions.</a:t>
            </a:r>
            <a:endParaRPr lang="en-US" altLang="en-US" sz="23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773B887C-3165-0B2F-25BC-D86392390BF0}"/>
              </a:ext>
            </a:extLst>
          </p:cNvPr>
          <p:cNvGraphicFramePr>
            <a:graphicFrameLocks noGrp="1"/>
          </p:cNvGraphicFramePr>
          <p:nvPr>
            <p:ph idx="1"/>
            <p:extLst>
              <p:ext uri="{D42A27DB-BD31-4B8C-83A1-F6EECF244321}">
                <p14:modId xmlns:p14="http://schemas.microsoft.com/office/powerpoint/2010/main" val="429955396"/>
              </p:ext>
            </p:extLst>
          </p:nvPr>
        </p:nvGraphicFramePr>
        <p:xfrm>
          <a:off x="838200" y="735000"/>
          <a:ext cx="10515600" cy="5698868"/>
        </p:xfrm>
        <a:graphic>
          <a:graphicData uri="http://schemas.openxmlformats.org/drawingml/2006/table">
            <a:tbl>
              <a:tblPr firstRow="1" bandRow="1">
                <a:tableStyleId>{5940675A-B579-460E-94D1-54222C63F5DA}</a:tableStyleId>
              </a:tblPr>
              <a:tblGrid>
                <a:gridCol w="5257800">
                  <a:extLst>
                    <a:ext uri="{9D8B030D-6E8A-4147-A177-3AD203B41FA5}">
                      <a16:colId xmlns:a16="http://schemas.microsoft.com/office/drawing/2014/main" val="2725140778"/>
                    </a:ext>
                  </a:extLst>
                </a:gridCol>
                <a:gridCol w="5257800">
                  <a:extLst>
                    <a:ext uri="{9D8B030D-6E8A-4147-A177-3AD203B41FA5}">
                      <a16:colId xmlns:a16="http://schemas.microsoft.com/office/drawing/2014/main" val="2669782108"/>
                    </a:ext>
                  </a:extLst>
                </a:gridCol>
              </a:tblGrid>
              <a:tr h="451131">
                <a:tc>
                  <a:txBody>
                    <a:bodyPr/>
                    <a:lstStyle/>
                    <a:p>
                      <a:pPr algn="ctr"/>
                      <a:r>
                        <a:rPr lang="en-US" sz="2200" b="1" dirty="0">
                          <a:latin typeface="Times New Roman" panose="02020603050405020304" pitchFamily="18" charset="0"/>
                          <a:cs typeface="Times New Roman" panose="02020603050405020304" pitchFamily="18" charset="0"/>
                        </a:rPr>
                        <a:t>OBJECTIVES</a:t>
                      </a:r>
                    </a:p>
                    <a:p>
                      <a:pPr algn="ctr"/>
                      <a:endParaRPr lang="en-IN" sz="2200"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200" b="1" dirty="0">
                          <a:latin typeface="Times New Roman" panose="02020603050405020304" pitchFamily="18" charset="0"/>
                          <a:cs typeface="Times New Roman" panose="02020603050405020304" pitchFamily="18" charset="0"/>
                        </a:rPr>
                        <a:t>OUTCOMES</a:t>
                      </a:r>
                      <a:endParaRPr lang="en-IN" sz="2200"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6413970"/>
                  </a:ext>
                </a:extLst>
              </a:tr>
              <a:tr h="1717172">
                <a:tc>
                  <a:txBody>
                    <a:bodyPr/>
                    <a:lstStyle/>
                    <a:p>
                      <a:r>
                        <a:rPr lang="en-US" sz="2000" dirty="0">
                          <a:latin typeface="Times New Roman" panose="02020603050405020304" pitchFamily="18" charset="0"/>
                          <a:cs typeface="Times New Roman" panose="02020603050405020304" pitchFamily="18" charset="0"/>
                        </a:rPr>
                        <a:t>To develop a lung disease detection system using MobileNetV2. </a:t>
                      </a:r>
                    </a:p>
                    <a:p>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2000" dirty="0">
                          <a:latin typeface="Times New Roman" panose="02020603050405020304" pitchFamily="18" charset="0"/>
                          <a:cs typeface="Times New Roman" panose="02020603050405020304" pitchFamily="18" charset="0"/>
                        </a:rPr>
                        <a:t>The system successfully predicts lung diseases with good accuracy. </a:t>
                      </a:r>
                      <a:endParaRPr lang="en-IN" sz="2000"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87686639"/>
                  </a:ext>
                </a:extLst>
              </a:tr>
              <a:tr h="10732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To accurately classify diseases from chest X-ray images. </a:t>
                      </a:r>
                    </a:p>
                    <a:p>
                      <a:endParaRPr lang="en-IN" sz="2000"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2000" dirty="0">
                          <a:latin typeface="Times New Roman" panose="02020603050405020304" pitchFamily="18" charset="0"/>
                          <a:cs typeface="Times New Roman" panose="02020603050405020304" pitchFamily="18" charset="0"/>
                        </a:rPr>
                        <a:t>Users receive instant results through the mobile application. </a:t>
                      </a:r>
                      <a:endParaRPr lang="en-IN" sz="2000"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61141139"/>
                  </a:ext>
                </a:extLst>
              </a:tr>
              <a:tr h="10732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To design a mobile application for easy image upload and result display. </a:t>
                      </a:r>
                    </a:p>
                    <a:p>
                      <a:endParaRPr lang="en-IN" sz="2000"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2000" dirty="0">
                          <a:latin typeface="Times New Roman" panose="02020603050405020304" pitchFamily="18" charset="0"/>
                          <a:cs typeface="Times New Roman" panose="02020603050405020304" pitchFamily="18" charset="0"/>
                        </a:rPr>
                        <a:t>Automated reports provide basic diagnostic information and guidance.</a:t>
                      </a:r>
                      <a:endParaRPr lang="en-IN" sz="2000"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42898328"/>
                  </a:ext>
                </a:extLst>
              </a:tr>
              <a:tr h="10732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To generate automated medical reports based on prediction results. </a:t>
                      </a:r>
                    </a:p>
                    <a:p>
                      <a:endParaRPr lang="en-IN" sz="2000"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2000" dirty="0">
                          <a:latin typeface="Times New Roman" panose="02020603050405020304" pitchFamily="18" charset="0"/>
                          <a:cs typeface="Times New Roman" panose="02020603050405020304" pitchFamily="18" charset="0"/>
                        </a:rPr>
                        <a:t>The solution improves accessibility to early disease detection.</a:t>
                      </a:r>
                      <a:endParaRPr lang="en-IN" sz="2000"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32068026"/>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BDB70DDB-09B4-D611-481E-79A27294073F}"/>
              </a:ext>
            </a:extLst>
          </p:cNvPr>
          <p:cNvGraphicFramePr>
            <a:graphicFrameLocks noGrp="1"/>
          </p:cNvGraphicFramePr>
          <p:nvPr>
            <p:extLst>
              <p:ext uri="{D42A27DB-BD31-4B8C-83A1-F6EECF244321}">
                <p14:modId xmlns:p14="http://schemas.microsoft.com/office/powerpoint/2010/main" val="3750515252"/>
              </p:ext>
            </p:extLst>
          </p:nvPr>
        </p:nvGraphicFramePr>
        <p:xfrm>
          <a:off x="145773" y="766786"/>
          <a:ext cx="11847442" cy="6007237"/>
        </p:xfrm>
        <a:graphic>
          <a:graphicData uri="http://schemas.openxmlformats.org/drawingml/2006/table">
            <a:tbl>
              <a:tblPr firstRow="1" bandRow="1">
                <a:tableStyleId>{5C22544A-7EE6-4342-B048-85BDC9FD1C3A}</a:tableStyleId>
              </a:tblPr>
              <a:tblGrid>
                <a:gridCol w="543340">
                  <a:extLst>
                    <a:ext uri="{9D8B030D-6E8A-4147-A177-3AD203B41FA5}">
                      <a16:colId xmlns:a16="http://schemas.microsoft.com/office/drawing/2014/main" val="1572699897"/>
                    </a:ext>
                  </a:extLst>
                </a:gridCol>
                <a:gridCol w="3405806">
                  <a:extLst>
                    <a:ext uri="{9D8B030D-6E8A-4147-A177-3AD203B41FA5}">
                      <a16:colId xmlns:a16="http://schemas.microsoft.com/office/drawing/2014/main" val="3147386134"/>
                    </a:ext>
                  </a:extLst>
                </a:gridCol>
                <a:gridCol w="1974574">
                  <a:extLst>
                    <a:ext uri="{9D8B030D-6E8A-4147-A177-3AD203B41FA5}">
                      <a16:colId xmlns:a16="http://schemas.microsoft.com/office/drawing/2014/main" val="204059611"/>
                    </a:ext>
                  </a:extLst>
                </a:gridCol>
                <a:gridCol w="1974574">
                  <a:extLst>
                    <a:ext uri="{9D8B030D-6E8A-4147-A177-3AD203B41FA5}">
                      <a16:colId xmlns:a16="http://schemas.microsoft.com/office/drawing/2014/main" val="4167911010"/>
                    </a:ext>
                  </a:extLst>
                </a:gridCol>
                <a:gridCol w="1974574">
                  <a:extLst>
                    <a:ext uri="{9D8B030D-6E8A-4147-A177-3AD203B41FA5}">
                      <a16:colId xmlns:a16="http://schemas.microsoft.com/office/drawing/2014/main" val="4094951442"/>
                    </a:ext>
                  </a:extLst>
                </a:gridCol>
                <a:gridCol w="1974574">
                  <a:extLst>
                    <a:ext uri="{9D8B030D-6E8A-4147-A177-3AD203B41FA5}">
                      <a16:colId xmlns:a16="http://schemas.microsoft.com/office/drawing/2014/main" val="3336918605"/>
                    </a:ext>
                  </a:extLst>
                </a:gridCol>
              </a:tblGrid>
              <a:tr h="624492">
                <a:tc>
                  <a:txBody>
                    <a:bodyPr/>
                    <a:lstStyle/>
                    <a:p>
                      <a:pPr algn="ctr"/>
                      <a:r>
                        <a:rPr lang="en-US" sz="1300" dirty="0"/>
                        <a:t>S.NO</a:t>
                      </a:r>
                      <a:endParaRPr lang="en-IN" sz="1300" dirty="0"/>
                    </a:p>
                  </a:txBody>
                  <a:tcPr/>
                </a:tc>
                <a:tc>
                  <a:txBody>
                    <a:bodyPr/>
                    <a:lstStyle/>
                    <a:p>
                      <a:pPr algn="ctr"/>
                      <a:r>
                        <a:rPr lang="en-US" dirty="0"/>
                        <a:t>TITLE</a:t>
                      </a:r>
                      <a:endParaRPr lang="en-IN" dirty="0"/>
                    </a:p>
                  </a:txBody>
                  <a:tcPr/>
                </a:tc>
                <a:tc>
                  <a:txBody>
                    <a:bodyPr/>
                    <a:lstStyle/>
                    <a:p>
                      <a:pPr algn="ctr"/>
                      <a:r>
                        <a:rPr lang="en-US" dirty="0"/>
                        <a:t>TYPE</a:t>
                      </a:r>
                      <a:endParaRPr lang="en-IN" dirty="0"/>
                    </a:p>
                  </a:txBody>
                  <a:tcPr/>
                </a:tc>
                <a:tc>
                  <a:txBody>
                    <a:bodyPr/>
                    <a:lstStyle/>
                    <a:p>
                      <a:pPr algn="ctr"/>
                      <a:r>
                        <a:rPr lang="en-US" dirty="0"/>
                        <a:t>ALGORITHMS USED</a:t>
                      </a:r>
                      <a:endParaRPr lang="en-IN" dirty="0"/>
                    </a:p>
                  </a:txBody>
                  <a:tcPr/>
                </a:tc>
                <a:tc>
                  <a:txBody>
                    <a:bodyPr/>
                    <a:lstStyle/>
                    <a:p>
                      <a:pPr algn="ctr"/>
                      <a:r>
                        <a:rPr lang="en-US" dirty="0"/>
                        <a:t>RESULTS</a:t>
                      </a:r>
                      <a:endParaRPr lang="en-IN" dirty="0"/>
                    </a:p>
                  </a:txBody>
                  <a:tcPr/>
                </a:tc>
                <a:tc>
                  <a:txBody>
                    <a:bodyPr/>
                    <a:lstStyle/>
                    <a:p>
                      <a:r>
                        <a:rPr lang="en-US" dirty="0"/>
                        <a:t>LIMITATIONS</a:t>
                      </a:r>
                      <a:endParaRPr lang="en-IN" dirty="0"/>
                    </a:p>
                  </a:txBody>
                  <a:tcPr/>
                </a:tc>
                <a:extLst>
                  <a:ext uri="{0D108BD9-81ED-4DB2-BD59-A6C34878D82A}">
                    <a16:rowId xmlns:a16="http://schemas.microsoft.com/office/drawing/2014/main" val="3220787090"/>
                  </a:ext>
                </a:extLst>
              </a:tr>
              <a:tr h="1055688">
                <a:tc>
                  <a:txBody>
                    <a:bodyPr/>
                    <a:lstStyle/>
                    <a:p>
                      <a:r>
                        <a:rPr lang="en-US" dirty="0"/>
                        <a:t>1.</a:t>
                      </a:r>
                      <a:endParaRPr lang="en-IN" dirty="0"/>
                    </a:p>
                  </a:txBody>
                  <a:tcPr/>
                </a:tc>
                <a:tc>
                  <a:txBody>
                    <a:bodyPr/>
                    <a:lstStyle/>
                    <a:p>
                      <a:r>
                        <a:rPr lang="en-US" sz="1300" dirty="0">
                          <a:latin typeface="Times New Roman" panose="02020603050405020304" pitchFamily="18" charset="0"/>
                          <a:cs typeface="Times New Roman" panose="02020603050405020304" pitchFamily="18" charset="0"/>
                        </a:rPr>
                        <a:t>Advancing Chest X-ray Diagnostics: A Novel </a:t>
                      </a:r>
                      <a:r>
                        <a:rPr lang="en-US" sz="1300" dirty="0" err="1">
                          <a:latin typeface="Times New Roman" panose="02020603050405020304" pitchFamily="18" charset="0"/>
                          <a:cs typeface="Times New Roman" panose="02020603050405020304" pitchFamily="18" charset="0"/>
                        </a:rPr>
                        <a:t>CycleGAN</a:t>
                      </a:r>
                      <a:r>
                        <a:rPr lang="en-US" sz="1300" dirty="0">
                          <a:latin typeface="Times New Roman" panose="02020603050405020304" pitchFamily="18" charset="0"/>
                          <a:cs typeface="Times New Roman" panose="02020603050405020304" pitchFamily="18" charset="0"/>
                        </a:rPr>
                        <a:t>-Based Preprocessing Approach for Enhanced Lung Disease Classification </a:t>
                      </a:r>
                      <a:endParaRPr lang="en-IN" sz="1300" dirty="0">
                        <a:latin typeface="Times New Roman" panose="02020603050405020304" pitchFamily="18" charset="0"/>
                        <a:cs typeface="Times New Roman" panose="02020603050405020304" pitchFamily="18" charset="0"/>
                      </a:endParaRPr>
                    </a:p>
                  </a:txBody>
                  <a:tcPr/>
                </a:tc>
                <a:tc>
                  <a:txBody>
                    <a:bodyPr/>
                    <a:lstStyle/>
                    <a:p>
                      <a:r>
                        <a:rPr lang="en-IN" sz="1300" dirty="0">
                          <a:latin typeface="Times New Roman" panose="02020603050405020304" pitchFamily="18" charset="0"/>
                          <a:cs typeface="Times New Roman" panose="02020603050405020304" pitchFamily="18" charset="0"/>
                        </a:rPr>
                        <a:t>Journal Paper (Elsevier)</a:t>
                      </a:r>
                    </a:p>
                  </a:txBody>
                  <a:tcPr/>
                </a:tc>
                <a:tc>
                  <a:txBody>
                    <a:bodyPr/>
                    <a:lstStyle/>
                    <a:p>
                      <a:r>
                        <a:rPr lang="en-US" sz="1300" dirty="0">
                          <a:latin typeface="Times New Roman" panose="02020603050405020304" pitchFamily="18" charset="0"/>
                          <a:cs typeface="Times New Roman" panose="02020603050405020304" pitchFamily="18" charset="0"/>
                        </a:rPr>
                        <a:t>K-Means, </a:t>
                      </a:r>
                      <a:r>
                        <a:rPr lang="en-US" sz="1300" dirty="0" err="1">
                          <a:latin typeface="Times New Roman" panose="02020603050405020304" pitchFamily="18" charset="0"/>
                          <a:cs typeface="Times New Roman" panose="02020603050405020304" pitchFamily="18" charset="0"/>
                        </a:rPr>
                        <a:t>CycleGAN</a:t>
                      </a:r>
                      <a:r>
                        <a:rPr lang="en-US" sz="1300" dirty="0">
                          <a:latin typeface="Times New Roman" panose="02020603050405020304" pitchFamily="18" charset="0"/>
                          <a:cs typeface="Times New Roman" panose="02020603050405020304" pitchFamily="18" charset="0"/>
                        </a:rPr>
                        <a:t>, DenseNet-121, CBAM.</a:t>
                      </a:r>
                      <a:endParaRPr lang="en-IN" sz="1300" dirty="0">
                        <a:latin typeface="Times New Roman" panose="02020603050405020304" pitchFamily="18" charset="0"/>
                        <a:cs typeface="Times New Roman" panose="02020603050405020304" pitchFamily="18" charset="0"/>
                      </a:endParaRPr>
                    </a:p>
                  </a:txBody>
                  <a:tcPr/>
                </a:tc>
                <a:tc>
                  <a:txBody>
                    <a:bodyPr/>
                    <a:lstStyle/>
                    <a:p>
                      <a:r>
                        <a:rPr lang="en-US" sz="1300" b="0" dirty="0">
                          <a:latin typeface="Times New Roman" panose="02020603050405020304" pitchFamily="18" charset="0"/>
                          <a:cs typeface="Times New Roman" panose="02020603050405020304" pitchFamily="18" charset="0"/>
                        </a:rPr>
                        <a:t>Achieved 83.87% AUC accuracy using clustering + </a:t>
                      </a:r>
                      <a:r>
                        <a:rPr lang="en-US" sz="1300" b="0" dirty="0" err="1">
                          <a:latin typeface="Times New Roman" panose="02020603050405020304" pitchFamily="18" charset="0"/>
                          <a:cs typeface="Times New Roman" panose="02020603050405020304" pitchFamily="18" charset="0"/>
                        </a:rPr>
                        <a:t>CycleGAN</a:t>
                      </a:r>
                      <a:r>
                        <a:rPr lang="en-US" sz="1300" b="0" dirty="0">
                          <a:latin typeface="Times New Roman" panose="02020603050405020304" pitchFamily="18" charset="0"/>
                          <a:cs typeface="Times New Roman" panose="02020603050405020304" pitchFamily="18" charset="0"/>
                        </a:rPr>
                        <a:t> + CBAM with clinical features.</a:t>
                      </a:r>
                      <a:endParaRPr lang="en-IN" sz="1300" b="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i="0" dirty="0">
                          <a:latin typeface="Times New Roman" panose="02020603050405020304" pitchFamily="18" charset="0"/>
                          <a:cs typeface="Times New Roman" panose="02020603050405020304" pitchFamily="18" charset="0"/>
                        </a:rPr>
                        <a:t>Requires high computation and complex preprocessing (</a:t>
                      </a:r>
                      <a:r>
                        <a:rPr lang="en-US" sz="1300" i="0" dirty="0" err="1">
                          <a:latin typeface="Times New Roman" panose="02020603050405020304" pitchFamily="18" charset="0"/>
                          <a:cs typeface="Times New Roman" panose="02020603050405020304" pitchFamily="18" charset="0"/>
                        </a:rPr>
                        <a:t>CycleGAN</a:t>
                      </a:r>
                      <a:r>
                        <a:rPr lang="en-US" sz="1300" i="0" dirty="0">
                          <a:latin typeface="Times New Roman" panose="02020603050405020304" pitchFamily="18" charset="0"/>
                          <a:cs typeface="Times New Roman" panose="02020603050405020304" pitchFamily="18" charset="0"/>
                        </a:rPr>
                        <a:t> + clustering).</a:t>
                      </a:r>
                    </a:p>
                    <a:p>
                      <a:endParaRPr lang="en-IN" sz="1300" i="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36939456"/>
                  </a:ext>
                </a:extLst>
              </a:tr>
              <a:tr h="1130032">
                <a:tc>
                  <a:txBody>
                    <a:bodyPr/>
                    <a:lstStyle/>
                    <a:p>
                      <a:r>
                        <a:rPr lang="en-US" dirty="0"/>
                        <a:t>2.</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dirty="0">
                          <a:latin typeface="Times New Roman" panose="02020603050405020304" pitchFamily="18" charset="0"/>
                          <a:cs typeface="Times New Roman" panose="02020603050405020304" pitchFamily="18" charset="0"/>
                        </a:rPr>
                        <a:t>Deep Learning for Lung Disease Classification Using Transfer Learning and a Customized CNN Architecture with Attention</a:t>
                      </a:r>
                    </a:p>
                    <a:p>
                      <a:endParaRPr lang="en-IN" dirty="0"/>
                    </a:p>
                  </a:txBody>
                  <a:tcPr/>
                </a:tc>
                <a:tc>
                  <a:txBody>
                    <a:bodyPr/>
                    <a:lstStyle/>
                    <a:p>
                      <a:r>
                        <a:rPr lang="en-US" sz="1300" b="0" dirty="0">
                          <a:latin typeface="Times New Roman" panose="02020603050405020304" pitchFamily="18" charset="0"/>
                          <a:cs typeface="Times New Roman" panose="02020603050405020304" pitchFamily="18" charset="0"/>
                        </a:rPr>
                        <a:t>ICARC -Conference paper(IEEE)</a:t>
                      </a:r>
                      <a:endParaRPr lang="en-IN" sz="13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dirty="0">
                          <a:latin typeface="Times New Roman" panose="02020603050405020304" pitchFamily="18" charset="0"/>
                          <a:cs typeface="Times New Roman" panose="02020603050405020304" pitchFamily="18" charset="0"/>
                        </a:rPr>
                        <a:t>Transfer learning with </a:t>
                      </a:r>
                      <a:r>
                        <a:rPr lang="en-US" sz="1300" dirty="0" err="1">
                          <a:latin typeface="Times New Roman" panose="02020603050405020304" pitchFamily="18" charset="0"/>
                          <a:cs typeface="Times New Roman" panose="02020603050405020304" pitchFamily="18" charset="0"/>
                        </a:rPr>
                        <a:t>SqueezeNet</a:t>
                      </a:r>
                      <a:r>
                        <a:rPr lang="en-US" sz="1300" dirty="0">
                          <a:latin typeface="Times New Roman" panose="02020603050405020304" pitchFamily="18" charset="0"/>
                          <a:cs typeface="Times New Roman" panose="02020603050405020304" pitchFamily="18" charset="0"/>
                        </a:rPr>
                        <a:t>, VGG11, ResNet18, </a:t>
                      </a:r>
                      <a:r>
                        <a:rPr lang="en-US" sz="1300" dirty="0" err="1">
                          <a:latin typeface="Times New Roman" panose="02020603050405020304" pitchFamily="18" charset="0"/>
                          <a:cs typeface="Times New Roman" panose="02020603050405020304" pitchFamily="18" charset="0"/>
                        </a:rPr>
                        <a:t>DenseNet</a:t>
                      </a:r>
                      <a:r>
                        <a:rPr lang="en-US" sz="1300" dirty="0">
                          <a:latin typeface="Times New Roman" panose="02020603050405020304" pitchFamily="18" charset="0"/>
                          <a:cs typeface="Times New Roman" panose="02020603050405020304" pitchFamily="18" charset="0"/>
                        </a:rPr>
                        <a:t>, and MobileNetV2.</a:t>
                      </a:r>
                      <a:endParaRPr lang="en-US" sz="1300" b="0" dirty="0">
                        <a:latin typeface="Times New Roman" panose="02020603050405020304" pitchFamily="18" charset="0"/>
                        <a:cs typeface="Times New Roman" panose="02020603050405020304" pitchFamily="18" charset="0"/>
                      </a:endParaRPr>
                    </a:p>
                    <a:p>
                      <a:endParaRPr lang="en-IN" dirty="0"/>
                    </a:p>
                  </a:txBody>
                  <a:tcPr/>
                </a:tc>
                <a:tc>
                  <a:txBody>
                    <a:bodyPr/>
                    <a:lstStyle/>
                    <a:p>
                      <a:r>
                        <a:rPr lang="en-US" sz="1300" b="0" dirty="0">
                          <a:latin typeface="Times New Roman" panose="02020603050405020304" pitchFamily="18" charset="0"/>
                          <a:cs typeface="Times New Roman" panose="02020603050405020304" pitchFamily="18" charset="0"/>
                        </a:rPr>
                        <a:t>The model achieved an accuracy of 93.3% on classification. </a:t>
                      </a:r>
                      <a:endParaRPr lang="en-IN" sz="1300" b="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i="0" dirty="0">
                          <a:latin typeface="Times New Roman" panose="02020603050405020304" pitchFamily="18" charset="0"/>
                          <a:cs typeface="Times New Roman" panose="02020603050405020304" pitchFamily="18" charset="0"/>
                        </a:rPr>
                        <a:t>May overfit and depends heavily on large labeled datasets.</a:t>
                      </a:r>
                    </a:p>
                    <a:p>
                      <a:endParaRPr lang="en-IN" sz="1300" i="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41225483"/>
                  </a:ext>
                </a:extLst>
              </a:tr>
              <a:tr h="1115164">
                <a:tc>
                  <a:txBody>
                    <a:bodyPr/>
                    <a:lstStyle/>
                    <a:p>
                      <a:r>
                        <a:rPr lang="en-US" dirty="0"/>
                        <a:t>3.</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b="0" dirty="0">
                          <a:latin typeface="Times New Roman" panose="02020603050405020304" pitchFamily="18" charset="0"/>
                          <a:cs typeface="Times New Roman" panose="02020603050405020304" pitchFamily="18" charset="0"/>
                        </a:rPr>
                        <a:t>AI-Assisted Severity Assessment of COVID-19 from Chest X-rays Using Explainable Deep Learning Models.</a:t>
                      </a:r>
                    </a:p>
                    <a:p>
                      <a:endParaRPr lang="en-IN" sz="1500" dirty="0"/>
                    </a:p>
                    <a:p>
                      <a:endParaRPr lang="en-IN" sz="15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b="0" dirty="0">
                          <a:latin typeface="Times New Roman" panose="02020603050405020304" pitchFamily="18" charset="0"/>
                          <a:cs typeface="Times New Roman" panose="02020603050405020304" pitchFamily="18" charset="0"/>
                        </a:rPr>
                        <a:t>BIBM-conference paper(IEEE)</a:t>
                      </a:r>
                    </a:p>
                    <a:p>
                      <a:endParaRPr lang="en-IN" sz="1300" dirty="0"/>
                    </a:p>
                  </a:txBody>
                  <a:tcPr/>
                </a:tc>
                <a:tc>
                  <a:txBody>
                    <a:bodyPr/>
                    <a:lstStyle/>
                    <a:p>
                      <a:r>
                        <a:rPr lang="en-IN" sz="1300" b="0" dirty="0">
                          <a:latin typeface="Times New Roman" panose="02020603050405020304" pitchFamily="18" charset="0"/>
                          <a:cs typeface="Times New Roman" panose="02020603050405020304" pitchFamily="18" charset="0"/>
                        </a:rPr>
                        <a:t>DenseNet121, Explainable AI techniques (Grad-CAM)</a:t>
                      </a:r>
                      <a:endParaRPr lang="en-IN" sz="13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b="0" dirty="0">
                          <a:latin typeface="Times New Roman" panose="02020603050405020304" pitchFamily="18" charset="0"/>
                          <a:cs typeface="Times New Roman" panose="02020603050405020304" pitchFamily="18" charset="0"/>
                        </a:rPr>
                        <a:t>The AI-assisted model achieved 92% accuracy in classifying chest X-rays.</a:t>
                      </a:r>
                      <a:endParaRPr lang="en-IN" sz="1300" b="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i="0" dirty="0">
                          <a:latin typeface="Times New Roman" panose="02020603050405020304" pitchFamily="18" charset="0"/>
                          <a:cs typeface="Times New Roman" panose="02020603050405020304" pitchFamily="18" charset="0"/>
                        </a:rPr>
                        <a:t>Limited generalization to diseases other than COVID-19.</a:t>
                      </a:r>
                    </a:p>
                    <a:p>
                      <a:endParaRPr lang="en-IN" sz="1300" i="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68789367"/>
                  </a:ext>
                </a:extLst>
              </a:tr>
              <a:tr h="892131">
                <a:tc>
                  <a:txBody>
                    <a:bodyPr/>
                    <a:lstStyle/>
                    <a:p>
                      <a:r>
                        <a:rPr lang="en-US" dirty="0"/>
                        <a:t>4.</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b="0" dirty="0">
                          <a:latin typeface="Times New Roman" panose="02020603050405020304" pitchFamily="18" charset="0"/>
                          <a:cs typeface="Times New Roman" panose="02020603050405020304" pitchFamily="18" charset="0"/>
                        </a:rPr>
                        <a:t>Lung Cancer Detection Using Deep Learning and Explainable Artificial Intelligence Models</a:t>
                      </a:r>
                    </a:p>
                    <a:p>
                      <a:endParaRPr lang="en-IN" sz="1500" dirty="0"/>
                    </a:p>
                  </a:txBody>
                  <a:tcPr/>
                </a:tc>
                <a:tc>
                  <a:txBody>
                    <a:bodyPr/>
                    <a:lstStyle/>
                    <a:p>
                      <a:r>
                        <a:rPr lang="en-US" altLang="en-IN" sz="1300" b="0" dirty="0">
                          <a:latin typeface="Times New Roman" panose="02020603050405020304" pitchFamily="18" charset="0"/>
                          <a:cs typeface="Times New Roman" panose="02020603050405020304" pitchFamily="18" charset="0"/>
                        </a:rPr>
                        <a:t>ICICS-Conference paper(IEEE)</a:t>
                      </a:r>
                      <a:endParaRPr lang="en-IN" sz="1300" dirty="0"/>
                    </a:p>
                  </a:txBody>
                  <a:tcPr/>
                </a:tc>
                <a:tc>
                  <a:txBody>
                    <a:bodyPr/>
                    <a:lstStyle/>
                    <a:p>
                      <a:r>
                        <a:rPr lang="en-IN" sz="1300" b="0" dirty="0">
                          <a:latin typeface="Times New Roman" panose="02020603050405020304" pitchFamily="18" charset="0"/>
                          <a:cs typeface="Times New Roman" panose="02020603050405020304" pitchFamily="18" charset="0"/>
                        </a:rPr>
                        <a:t>(InceptionV3, ResNet50), XAI techniques ( LIME, Grad-CAM)</a:t>
                      </a:r>
                      <a:endParaRPr lang="en-IN" sz="13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i="0" dirty="0">
                          <a:latin typeface="Times New Roman" panose="02020603050405020304" pitchFamily="18" charset="0"/>
                          <a:cs typeface="Times New Roman" panose="02020603050405020304" pitchFamily="18" charset="0"/>
                        </a:rPr>
                        <a:t>The model achieved an accuracy of </a:t>
                      </a:r>
                      <a:r>
                        <a:rPr lang="en-US" sz="1300" b="1" i="0" dirty="0">
                          <a:latin typeface="Times New Roman" panose="02020603050405020304" pitchFamily="18" charset="0"/>
                          <a:cs typeface="Times New Roman" panose="02020603050405020304" pitchFamily="18" charset="0"/>
                        </a:rPr>
                        <a:t>97.43%</a:t>
                      </a:r>
                      <a:r>
                        <a:rPr lang="en-US" sz="1300" i="0" dirty="0">
                          <a:latin typeface="Times New Roman" panose="02020603050405020304" pitchFamily="18" charset="0"/>
                          <a:cs typeface="Times New Roman" panose="02020603050405020304" pitchFamily="18" charset="0"/>
                        </a:rPr>
                        <a:t> in lung cancer detection.</a:t>
                      </a:r>
                      <a:endParaRPr lang="en-IN" sz="1300" i="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i="0" dirty="0">
                          <a:latin typeface="Times New Roman" panose="02020603050405020304" pitchFamily="18" charset="0"/>
                          <a:cs typeface="Times New Roman" panose="02020603050405020304" pitchFamily="18" charset="0"/>
                        </a:rPr>
                        <a:t>Explainable AI methods increase complexity and slow down the model.</a:t>
                      </a:r>
                    </a:p>
                    <a:p>
                      <a:endParaRPr lang="en-IN" sz="1300" i="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54492445"/>
                  </a:ext>
                </a:extLst>
              </a:tr>
              <a:tr h="1091746">
                <a:tc>
                  <a:txBody>
                    <a:bodyPr/>
                    <a:lstStyle/>
                    <a:p>
                      <a:r>
                        <a:rPr lang="en-US" dirty="0"/>
                        <a:t>5.</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b="0" dirty="0">
                          <a:latin typeface="Times New Roman" panose="02020603050405020304" pitchFamily="18" charset="0"/>
                          <a:cs typeface="Times New Roman" panose="02020603050405020304" pitchFamily="18" charset="0"/>
                        </a:rPr>
                        <a:t>Unified Synergistic Deep Learning Framework for Multimodal 2-D and 3-D Imaging Data in Lung Infection Detection</a:t>
                      </a:r>
                    </a:p>
                    <a:p>
                      <a:endParaRPr lang="en-IN" dirty="0"/>
                    </a:p>
                  </a:txBody>
                  <a:tcPr/>
                </a:tc>
                <a:tc>
                  <a:txBody>
                    <a:bodyPr/>
                    <a:lstStyle/>
                    <a:p>
                      <a:r>
                        <a:rPr lang="en-US" sz="1300" b="0" dirty="0">
                          <a:latin typeface="Times New Roman" panose="02020603050405020304" pitchFamily="18" charset="0"/>
                          <a:cs typeface="Times New Roman" panose="02020603050405020304" pitchFamily="18" charset="0"/>
                        </a:rPr>
                        <a:t>Journal paper(IEEE Journal)</a:t>
                      </a:r>
                      <a:endParaRPr lang="en-IN" sz="13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b="0" dirty="0">
                          <a:latin typeface="Times New Roman" panose="02020603050405020304" pitchFamily="18" charset="0"/>
                          <a:cs typeface="Times New Roman" panose="02020603050405020304" pitchFamily="18" charset="0"/>
                        </a:rPr>
                        <a:t>Synergistic Deep Learning Framework integrating 2-D and 3-D CNNs.</a:t>
                      </a:r>
                      <a:endParaRPr lang="en-IN" sz="1300" dirty="0"/>
                    </a:p>
                  </a:txBody>
                  <a:tcPr/>
                </a:tc>
                <a:tc>
                  <a:txBody>
                    <a:bodyPr/>
                    <a:lstStyle/>
                    <a:p>
                      <a:r>
                        <a:rPr lang="en-US" sz="1300" i="0" dirty="0">
                          <a:latin typeface="Times New Roman" panose="02020603050405020304" pitchFamily="18" charset="0"/>
                          <a:cs typeface="Times New Roman" panose="02020603050405020304" pitchFamily="18" charset="0"/>
                        </a:rPr>
                        <a:t>The multimodal achieved an AUC of </a:t>
                      </a:r>
                      <a:r>
                        <a:rPr lang="en-US" sz="1300" b="1" i="0" dirty="0">
                          <a:latin typeface="Times New Roman" panose="02020603050405020304" pitchFamily="18" charset="0"/>
                          <a:cs typeface="Times New Roman" panose="02020603050405020304" pitchFamily="18" charset="0"/>
                        </a:rPr>
                        <a:t>89.7%</a:t>
                      </a:r>
                      <a:r>
                        <a:rPr lang="en-US" sz="1300" i="0" dirty="0">
                          <a:latin typeface="Times New Roman" panose="02020603050405020304" pitchFamily="18" charset="0"/>
                          <a:cs typeface="Times New Roman" panose="02020603050405020304" pitchFamily="18" charset="0"/>
                        </a:rPr>
                        <a:t> for lung infection detection.</a:t>
                      </a:r>
                      <a:endParaRPr lang="en-IN" sz="1300" i="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i="0" dirty="0">
                          <a:latin typeface="Times New Roman" panose="02020603050405020304" pitchFamily="18" charset="0"/>
                          <a:cs typeface="Times New Roman" panose="02020603050405020304" pitchFamily="18" charset="0"/>
                        </a:rPr>
                        <a:t>Needs multiple data types (2D &amp; 3D), which are not always available.</a:t>
                      </a:r>
                    </a:p>
                    <a:p>
                      <a:endParaRPr lang="en-IN" i="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93432252"/>
                  </a:ext>
                </a:extLst>
              </a:tr>
            </a:tbl>
          </a:graphicData>
        </a:graphic>
      </p:graphicFrame>
      <p:sp>
        <p:nvSpPr>
          <p:cNvPr id="2" name="Rectangle 1">
            <a:extLst>
              <a:ext uri="{FF2B5EF4-FFF2-40B4-BE49-F238E27FC236}">
                <a16:creationId xmlns:a16="http://schemas.microsoft.com/office/drawing/2014/main" id="{E6C22B96-CE79-0C24-AF1D-4374989CEB10}"/>
              </a:ext>
            </a:extLst>
          </p:cNvPr>
          <p:cNvSpPr/>
          <p:nvPr/>
        </p:nvSpPr>
        <p:spPr>
          <a:xfrm>
            <a:off x="4511172" y="181961"/>
            <a:ext cx="8638702" cy="384721"/>
          </a:xfrm>
          <a:prstGeom prst="rect">
            <a:avLst/>
          </a:prstGeom>
        </p:spPr>
        <p:txBody>
          <a:bodyPr wrap="square">
            <a:spAutoFit/>
          </a:bodyPr>
          <a:lstStyle/>
          <a:p>
            <a:r>
              <a:rPr lang="en-US" sz="1900" b="1" dirty="0">
                <a:latin typeface="Times New Roman" panose="02020603050405020304" pitchFamily="18" charset="0"/>
                <a:cs typeface="Times New Roman" panose="02020603050405020304" pitchFamily="18" charset="0"/>
              </a:rPr>
              <a:t>LITERATURE REVIEW</a:t>
            </a:r>
            <a:endParaRPr lang="en-IN" sz="1900" b="1" dirty="0"/>
          </a:p>
        </p:txBody>
      </p:sp>
    </p:spTree>
    <p:extLst>
      <p:ext uri="{BB962C8B-B14F-4D97-AF65-F5344CB8AC3E}">
        <p14:creationId xmlns:p14="http://schemas.microsoft.com/office/powerpoint/2010/main" val="29027202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B66B2-39C3-E490-9E66-F8D7060E9304}"/>
              </a:ext>
            </a:extLst>
          </p:cNvPr>
          <p:cNvSpPr>
            <a:spLocks noGrp="1"/>
          </p:cNvSpPr>
          <p:nvPr>
            <p:ph type="title"/>
          </p:nvPr>
        </p:nvSpPr>
        <p:spPr>
          <a:xfrm>
            <a:off x="838200" y="-125206"/>
            <a:ext cx="10515600" cy="1325563"/>
          </a:xfrm>
        </p:spPr>
        <p:txBody>
          <a:bodyPr>
            <a:normAutofit/>
          </a:bodyPr>
          <a:lstStyle/>
          <a:p>
            <a:r>
              <a:rPr lang="en-US" sz="3500" b="1" dirty="0">
                <a:latin typeface="Times New Roman" panose="02020603050405020304" pitchFamily="18" charset="0"/>
                <a:cs typeface="Times New Roman" panose="02020603050405020304" pitchFamily="18" charset="0"/>
              </a:rPr>
              <a:t>LITERATURE SUMMARY</a:t>
            </a:r>
            <a:endParaRPr lang="en-IN" sz="35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A6B689D-9F49-6E01-DB5B-0180D70E6380}"/>
              </a:ext>
            </a:extLst>
          </p:cNvPr>
          <p:cNvSpPr>
            <a:spLocks noGrp="1"/>
          </p:cNvSpPr>
          <p:nvPr>
            <p:ph idx="1"/>
          </p:nvPr>
        </p:nvSpPr>
        <p:spPr>
          <a:xfrm>
            <a:off x="652670" y="1041331"/>
            <a:ext cx="10515600" cy="4207980"/>
          </a:xfrm>
        </p:spPr>
        <p:txBody>
          <a:bodyPr>
            <a:noAutofit/>
          </a:bodyPr>
          <a:lstStyle/>
          <a:p>
            <a:r>
              <a:rPr lang="en-US" sz="2000" dirty="0">
                <a:latin typeface="Times New Roman" panose="02020603050405020304" pitchFamily="18" charset="0"/>
                <a:cs typeface="Times New Roman" panose="02020603050405020304" pitchFamily="18" charset="0"/>
              </a:rPr>
              <a:t>Existing research shows that deep learning models like </a:t>
            </a:r>
            <a:r>
              <a:rPr lang="en-US" sz="2000" dirty="0" err="1">
                <a:latin typeface="Times New Roman" panose="02020603050405020304" pitchFamily="18" charset="0"/>
                <a:cs typeface="Times New Roman" panose="02020603050405020304" pitchFamily="18" charset="0"/>
              </a:rPr>
              <a:t>DenseNet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ResNet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MobileNet</a:t>
            </a:r>
            <a:r>
              <a:rPr lang="en-US" sz="2000" dirty="0">
                <a:latin typeface="Times New Roman" panose="02020603050405020304" pitchFamily="18" charset="0"/>
                <a:cs typeface="Times New Roman" panose="02020603050405020304" pitchFamily="18" charset="0"/>
              </a:rPr>
              <a:t>, and CNNs provide high accuracy in lung disease classification. </a:t>
            </a:r>
          </a:p>
          <a:p>
            <a:r>
              <a:rPr lang="en-US" sz="2000" dirty="0" err="1">
                <a:latin typeface="Times New Roman" panose="02020603050405020304" pitchFamily="18" charset="0"/>
                <a:cs typeface="Times New Roman" panose="02020603050405020304" pitchFamily="18" charset="0"/>
              </a:rPr>
              <a:t>CycleGAN</a:t>
            </a:r>
            <a:r>
              <a:rPr lang="en-US" sz="2000" dirty="0">
                <a:latin typeface="Times New Roman" panose="02020603050405020304" pitchFamily="18" charset="0"/>
                <a:cs typeface="Times New Roman" panose="02020603050405020304" pitchFamily="18" charset="0"/>
              </a:rPr>
              <a:t>-based preprocessing and clustering techniques improve image quality by removing noise and artifacts. </a:t>
            </a:r>
          </a:p>
          <a:p>
            <a:r>
              <a:rPr lang="en-US" sz="2000" dirty="0">
                <a:latin typeface="Times New Roman" panose="02020603050405020304" pitchFamily="18" charset="0"/>
                <a:cs typeface="Times New Roman" panose="02020603050405020304" pitchFamily="18" charset="0"/>
              </a:rPr>
              <a:t>Attention mechanisms such as CBAM help the model focus on important regions in X-ray images. </a:t>
            </a:r>
          </a:p>
          <a:p>
            <a:r>
              <a:rPr lang="en-US" sz="2000" dirty="0">
                <a:latin typeface="Times New Roman" panose="02020603050405020304" pitchFamily="18" charset="0"/>
                <a:cs typeface="Times New Roman" panose="02020603050405020304" pitchFamily="18" charset="0"/>
              </a:rPr>
              <a:t>Explainable AI techniques like Grad-CAM and LIME improve interpretability by highlighting affected areas. </a:t>
            </a:r>
          </a:p>
          <a:p>
            <a:pPr marL="0" indent="0">
              <a:buNone/>
            </a:pPr>
            <a:r>
              <a:rPr lang="en-US" sz="2000" b="1" dirty="0">
                <a:latin typeface="Times New Roman" panose="02020603050405020304" pitchFamily="18" charset="0"/>
                <a:cs typeface="Times New Roman" panose="02020603050405020304" pitchFamily="18" charset="0"/>
              </a:rPr>
              <a:t>However, most existing systems:</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Focus on individual tasks like classification or preprocessing only </a:t>
            </a:r>
          </a:p>
          <a:p>
            <a:r>
              <a:rPr lang="en-US" sz="2000" dirty="0">
                <a:latin typeface="Times New Roman" panose="02020603050405020304" pitchFamily="18" charset="0"/>
                <a:cs typeface="Times New Roman" panose="02020603050405020304" pitchFamily="18" charset="0"/>
              </a:rPr>
              <a:t>Require large labeled datasets and high computational resources </a:t>
            </a:r>
          </a:p>
          <a:p>
            <a:r>
              <a:rPr lang="en-US" sz="2000" dirty="0">
                <a:latin typeface="Times New Roman" panose="02020603050405020304" pitchFamily="18" charset="0"/>
                <a:cs typeface="Times New Roman" panose="02020603050405020304" pitchFamily="18" charset="0"/>
              </a:rPr>
              <a:t>Have limited generalization across different diseases </a:t>
            </a:r>
          </a:p>
          <a:p>
            <a:r>
              <a:rPr lang="en-US" sz="2000" dirty="0">
                <a:latin typeface="Times New Roman" panose="02020603050405020304" pitchFamily="18" charset="0"/>
                <a:cs typeface="Times New Roman" panose="02020603050405020304" pitchFamily="18" charset="0"/>
              </a:rPr>
              <a:t>Increase complexity when using explainable AI </a:t>
            </a:r>
          </a:p>
          <a:p>
            <a:r>
              <a:rPr lang="en-US" sz="2000" b="1" dirty="0">
                <a:latin typeface="Times New Roman" panose="02020603050405020304" pitchFamily="18" charset="0"/>
                <a:cs typeface="Times New Roman" panose="02020603050405020304" pitchFamily="18" charset="0"/>
              </a:rPr>
              <a:t>Therefore: </a:t>
            </a:r>
            <a:r>
              <a:rPr lang="en-US" sz="2000" dirty="0">
                <a:latin typeface="Times New Roman" panose="02020603050405020304" pitchFamily="18" charset="0"/>
                <a:cs typeface="Times New Roman" panose="02020603050405020304" pitchFamily="18" charset="0"/>
              </a:rPr>
              <a:t>There is a need for an integrated system that combines preprocessing, deep learning, attention mechanisms, and AI for accurate and efficient lung disease diagnosis, which is addressed in our project. </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21603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5678" y="0"/>
            <a:ext cx="10515600" cy="1325563"/>
          </a:xfrm>
        </p:spPr>
        <p:txBody>
          <a:bodyPr/>
          <a:lstStyle/>
          <a:p>
            <a:r>
              <a:rPr lang="en-IN" sz="3200" b="1" dirty="0">
                <a:latin typeface="Times New Roman" panose="02020603050405020304" pitchFamily="18" charset="0"/>
                <a:cs typeface="Times New Roman" panose="02020603050405020304" pitchFamily="18" charset="0"/>
              </a:rPr>
              <a:t>DATASETS AND REQUIREMENTS</a:t>
            </a:r>
            <a:endParaRPr lang="en-US"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05678" y="874644"/>
            <a:ext cx="10515600" cy="5797825"/>
          </a:xfrm>
        </p:spPr>
        <p:txBody>
          <a:bodyPr>
            <a:normAutofit fontScale="85000" lnSpcReduction="20000"/>
          </a:bodyPr>
          <a:lstStyle/>
          <a:p>
            <a:pPr marL="0" indent="0">
              <a:buNone/>
            </a:pPr>
            <a:endParaRPr lang="en-IN" sz="2200" b="1"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The dataset used in this project is collected from Kaggle and contains over 10,000 labeled lung images. It includes chest X-ray images categorized into multiple classes such as pneumonia, tuberculosis, COVID-19, and normal. The dataset is preprocessed and split into training, validation, and testing sets to ensure accurate model performance.</a:t>
            </a:r>
            <a:br>
              <a:rPr lang="en-IN" sz="2200" dirty="0">
                <a:latin typeface="Times New Roman" panose="02020603050405020304" pitchFamily="18" charset="0"/>
                <a:cs typeface="Times New Roman" panose="02020603050405020304" pitchFamily="18" charset="0"/>
              </a:rPr>
            </a:br>
            <a:endParaRPr lang="en-IN" sz="2200" b="1" dirty="0">
              <a:latin typeface="Times New Roman" panose="02020603050405020304" pitchFamily="18" charset="0"/>
              <a:cs typeface="Times New Roman" panose="02020603050405020304" pitchFamily="18" charset="0"/>
            </a:endParaRPr>
          </a:p>
          <a:p>
            <a:pPr marL="0" indent="0">
              <a:buNone/>
            </a:pPr>
            <a:r>
              <a:rPr lang="en-IN" sz="2500" b="1" dirty="0">
                <a:latin typeface="Times New Roman" panose="02020603050405020304" pitchFamily="18" charset="0"/>
                <a:cs typeface="Times New Roman" panose="02020603050405020304" pitchFamily="18" charset="0"/>
              </a:rPr>
              <a:t>Software Requirements</a:t>
            </a:r>
          </a:p>
          <a:p>
            <a:r>
              <a:rPr lang="en-IN" sz="2200" dirty="0">
                <a:latin typeface="Times New Roman" panose="02020603050405020304" pitchFamily="18" charset="0"/>
                <a:cs typeface="Times New Roman" panose="02020603050405020304" pitchFamily="18" charset="0"/>
              </a:rPr>
              <a:t>Operating System:    Windows 10/11 or Ubuntu 20.04</a:t>
            </a:r>
          </a:p>
          <a:p>
            <a:r>
              <a:rPr lang="en-IN" sz="2200" dirty="0">
                <a:latin typeface="Times New Roman" panose="02020603050405020304" pitchFamily="18" charset="0"/>
                <a:cs typeface="Times New Roman" panose="02020603050405020304" pitchFamily="18" charset="0"/>
              </a:rPr>
              <a:t>Programming Language:   Python 3.8+, Java (Android)</a:t>
            </a:r>
          </a:p>
          <a:p>
            <a:r>
              <a:rPr lang="en-IN" sz="2200" dirty="0">
                <a:latin typeface="Times New Roman" panose="02020603050405020304" pitchFamily="18" charset="0"/>
                <a:cs typeface="Times New Roman" panose="02020603050405020304" pitchFamily="18" charset="0"/>
              </a:rPr>
              <a:t>Deep Learning Framework:   TensorFlow 2.x / KerasIDE </a:t>
            </a:r>
          </a:p>
          <a:p>
            <a:r>
              <a:rPr lang="en-IN" sz="2200" dirty="0">
                <a:latin typeface="Times New Roman" panose="02020603050405020304" pitchFamily="18" charset="0"/>
                <a:cs typeface="Times New Roman" panose="02020603050405020304" pitchFamily="18" charset="0"/>
              </a:rPr>
              <a:t>Model Training:   Google </a:t>
            </a:r>
            <a:r>
              <a:rPr lang="en-IN" sz="2200" dirty="0" err="1">
                <a:latin typeface="Times New Roman" panose="02020603050405020304" pitchFamily="18" charset="0"/>
                <a:cs typeface="Times New Roman" panose="02020603050405020304" pitchFamily="18" charset="0"/>
              </a:rPr>
              <a:t>Colab</a:t>
            </a:r>
            <a:r>
              <a:rPr lang="en-IN" sz="2200" dirty="0">
                <a:latin typeface="Times New Roman" panose="02020603050405020304" pitchFamily="18" charset="0"/>
                <a:cs typeface="Times New Roman" panose="02020603050405020304" pitchFamily="18" charset="0"/>
              </a:rPr>
              <a:t> / </a:t>
            </a:r>
            <a:r>
              <a:rPr lang="en-IN" sz="2200" dirty="0" err="1">
                <a:latin typeface="Times New Roman" panose="02020603050405020304" pitchFamily="18" charset="0"/>
                <a:cs typeface="Times New Roman" panose="02020603050405020304" pitchFamily="18" charset="0"/>
              </a:rPr>
              <a:t>Jupyter</a:t>
            </a:r>
            <a:r>
              <a:rPr lang="en-IN" sz="2200" dirty="0">
                <a:latin typeface="Times New Roman" panose="02020603050405020304" pitchFamily="18" charset="0"/>
                <a:cs typeface="Times New Roman" panose="02020603050405020304" pitchFamily="18" charset="0"/>
              </a:rPr>
              <a:t> Notebook </a:t>
            </a:r>
          </a:p>
          <a:p>
            <a:r>
              <a:rPr lang="en-IN" sz="2200" dirty="0">
                <a:latin typeface="Times New Roman" panose="02020603050405020304" pitchFamily="18" charset="0"/>
                <a:cs typeface="Times New Roman" panose="02020603050405020304" pitchFamily="18" charset="0"/>
              </a:rPr>
              <a:t>Mobile App:   Android Studio</a:t>
            </a:r>
          </a:p>
          <a:p>
            <a:r>
              <a:rPr lang="en-IN" sz="2200" dirty="0">
                <a:latin typeface="Times New Roman" panose="02020603050405020304" pitchFamily="18" charset="0"/>
                <a:cs typeface="Times New Roman" panose="02020603050405020304" pitchFamily="18" charset="0"/>
              </a:rPr>
              <a:t>Libraries:   OpenCV, NumPy, Scikit-learn, Matplotlib</a:t>
            </a:r>
          </a:p>
          <a:p>
            <a:pPr marL="0" indent="0">
              <a:buNone/>
            </a:pPr>
            <a:r>
              <a:rPr lang="en-IN" sz="2400" b="1" dirty="0">
                <a:latin typeface="Times New Roman" panose="02020603050405020304" pitchFamily="18" charset="0"/>
                <a:cs typeface="Times New Roman" panose="02020603050405020304" pitchFamily="18" charset="0"/>
              </a:rPr>
              <a:t>Hardware Requirements</a:t>
            </a:r>
          </a:p>
          <a:p>
            <a:r>
              <a:rPr lang="en-IN" sz="2400" dirty="0">
                <a:latin typeface="Times New Roman" panose="02020603050405020304" pitchFamily="18" charset="0"/>
                <a:cs typeface="Times New Roman" panose="02020603050405020304" pitchFamily="18" charset="0"/>
              </a:rPr>
              <a:t>System with minimum 8GB RAM </a:t>
            </a:r>
          </a:p>
          <a:p>
            <a:r>
              <a:rPr lang="en-IN" sz="2400" dirty="0">
                <a:latin typeface="Times New Roman" panose="02020603050405020304" pitchFamily="18" charset="0"/>
                <a:cs typeface="Times New Roman" panose="02020603050405020304" pitchFamily="18" charset="0"/>
              </a:rPr>
              <a:t>Intel i5 processor or above </a:t>
            </a:r>
          </a:p>
          <a:p>
            <a:r>
              <a:rPr lang="en-IN" sz="2400" dirty="0">
                <a:latin typeface="Times New Roman" panose="02020603050405020304" pitchFamily="18" charset="0"/>
                <a:cs typeface="Times New Roman" panose="02020603050405020304" pitchFamily="18" charset="0"/>
              </a:rPr>
              <a:t>GPU ( for faster training) </a:t>
            </a:r>
          </a:p>
          <a:p>
            <a:r>
              <a:rPr lang="en-IN" sz="2400" dirty="0">
                <a:latin typeface="Times New Roman" panose="02020603050405020304" pitchFamily="18" charset="0"/>
                <a:cs typeface="Times New Roman" panose="02020603050405020304" pitchFamily="18" charset="0"/>
              </a:rPr>
              <a:t>Smartphone (Android/iOS) for mobile application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F8311-A2BA-7019-BDF1-4F8C4A657FFC}"/>
              </a:ext>
            </a:extLst>
          </p:cNvPr>
          <p:cNvSpPr>
            <a:spLocks noGrp="1"/>
          </p:cNvSpPr>
          <p:nvPr>
            <p:ph type="title"/>
          </p:nvPr>
        </p:nvSpPr>
        <p:spPr>
          <a:xfrm>
            <a:off x="596279" y="132423"/>
            <a:ext cx="10515600" cy="1325563"/>
          </a:xfrm>
        </p:spPr>
        <p:txBody>
          <a:bodyPr>
            <a:normAutofit/>
          </a:bodyPr>
          <a:lstStyle/>
          <a:p>
            <a:r>
              <a:rPr lang="en-IN" sz="3000" b="1" dirty="0">
                <a:latin typeface="Times New Roman" panose="02020603050405020304" pitchFamily="18" charset="0"/>
                <a:cs typeface="Times New Roman" panose="02020603050405020304" pitchFamily="18" charset="0"/>
              </a:rPr>
              <a:t>Algorithm Involved- MobileNetV2</a:t>
            </a:r>
            <a:br>
              <a:rPr lang="en-IN" sz="3000" b="1" dirty="0">
                <a:latin typeface="Times New Roman" panose="02020603050405020304" pitchFamily="18" charset="0"/>
                <a:cs typeface="Times New Roman" panose="02020603050405020304" pitchFamily="18" charset="0"/>
              </a:rPr>
            </a:br>
            <a:endParaRPr lang="en-IN" sz="3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F287DEF-D4A6-7E1B-86E1-5AAB97E8B1FD}"/>
              </a:ext>
            </a:extLst>
          </p:cNvPr>
          <p:cNvSpPr>
            <a:spLocks noGrp="1"/>
          </p:cNvSpPr>
          <p:nvPr>
            <p:ph idx="1"/>
          </p:nvPr>
        </p:nvSpPr>
        <p:spPr>
          <a:xfrm>
            <a:off x="596279" y="968426"/>
            <a:ext cx="10515600" cy="4921147"/>
          </a:xfrm>
        </p:spPr>
        <p:txBody>
          <a:bodyPr>
            <a:noAutofit/>
          </a:bodyPr>
          <a:lstStyle/>
          <a:p>
            <a:r>
              <a:rPr lang="en-US" sz="1700" b="1" dirty="0">
                <a:latin typeface="Times New Roman" panose="02020603050405020304" pitchFamily="18" charset="0"/>
                <a:cs typeface="Times New Roman" panose="02020603050405020304" pitchFamily="18" charset="0"/>
              </a:rPr>
              <a:t>Step 1: Input of X- ray image </a:t>
            </a:r>
          </a:p>
          <a:p>
            <a:pPr marL="0" indent="0">
              <a:buNone/>
            </a:pPr>
            <a:r>
              <a:rPr lang="en-US" sz="1700" dirty="0">
                <a:latin typeface="Times New Roman" panose="02020603050405020304" pitchFamily="18" charset="0"/>
                <a:cs typeface="Times New Roman" panose="02020603050405020304" pitchFamily="18" charset="0"/>
              </a:rPr>
              <a:t>Preprocessed chest X-ray image of size 224×224 is fed into the model.(original- 1365 x 1024)</a:t>
            </a:r>
          </a:p>
          <a:p>
            <a:r>
              <a:rPr lang="en-US" sz="1700" b="1" dirty="0">
                <a:latin typeface="Times New Roman" panose="02020603050405020304" pitchFamily="18" charset="0"/>
                <a:cs typeface="Times New Roman" panose="02020603050405020304" pitchFamily="18" charset="0"/>
              </a:rPr>
              <a:t>Step 2: Initial Convolution </a:t>
            </a:r>
          </a:p>
          <a:p>
            <a:pPr marL="0" indent="0">
              <a:buNone/>
            </a:pPr>
            <a:r>
              <a:rPr lang="en-US" sz="1700" dirty="0">
                <a:latin typeface="Times New Roman" panose="02020603050405020304" pitchFamily="18" charset="0"/>
                <a:cs typeface="Times New Roman" panose="02020603050405020304" pitchFamily="18" charset="0"/>
              </a:rPr>
              <a:t> Extracts basic features like edges and textures from the X-ray.</a:t>
            </a:r>
          </a:p>
          <a:p>
            <a:r>
              <a:rPr lang="en-US" sz="1700" b="1" dirty="0">
                <a:latin typeface="Times New Roman" panose="02020603050405020304" pitchFamily="18" charset="0"/>
                <a:cs typeface="Times New Roman" panose="02020603050405020304" pitchFamily="18" charset="0"/>
              </a:rPr>
              <a:t>Step 3: </a:t>
            </a:r>
            <a:r>
              <a:rPr lang="en-US" sz="1700" b="1" dirty="0" err="1">
                <a:latin typeface="Times New Roman" panose="02020603050405020304" pitchFamily="18" charset="0"/>
                <a:cs typeface="Times New Roman" panose="02020603050405020304" pitchFamily="18" charset="0"/>
              </a:rPr>
              <a:t>Depthwise</a:t>
            </a:r>
            <a:r>
              <a:rPr lang="en-US" sz="1700" b="1" dirty="0">
                <a:latin typeface="Times New Roman" panose="02020603050405020304" pitchFamily="18" charset="0"/>
                <a:cs typeface="Times New Roman" panose="02020603050405020304" pitchFamily="18" charset="0"/>
              </a:rPr>
              <a:t> Convolution &amp; </a:t>
            </a:r>
            <a:r>
              <a:rPr lang="en-IN" sz="1700" b="1" dirty="0">
                <a:latin typeface="Times New Roman" panose="02020603050405020304" pitchFamily="18" charset="0"/>
                <a:cs typeface="Times New Roman" panose="02020603050405020304" pitchFamily="18" charset="0"/>
              </a:rPr>
              <a:t>Pointwise Convolution</a:t>
            </a:r>
            <a:endParaRPr lang="en-US" sz="1700" b="1" dirty="0">
              <a:latin typeface="Times New Roman" panose="02020603050405020304" pitchFamily="18" charset="0"/>
              <a:cs typeface="Times New Roman" panose="02020603050405020304" pitchFamily="18" charset="0"/>
            </a:endParaRPr>
          </a:p>
          <a:p>
            <a:pPr marL="0" indent="0">
              <a:buNone/>
            </a:pPr>
            <a:r>
              <a:rPr lang="en-US" sz="1700" dirty="0">
                <a:latin typeface="Times New Roman" panose="02020603050405020304" pitchFamily="18" charset="0"/>
                <a:cs typeface="Times New Roman" panose="02020603050405020304" pitchFamily="18" charset="0"/>
              </a:rPr>
              <a:t>Apply one filter per channel</a:t>
            </a:r>
            <a:r>
              <a:rPr lang="en-US" sz="1800" dirty="0">
                <a:latin typeface="Times New Roman" panose="02020603050405020304" pitchFamily="18" charset="0"/>
                <a:cs typeface="Times New Roman" panose="02020603050405020304" pitchFamily="18" charset="0"/>
              </a:rPr>
              <a:t> </a:t>
            </a:r>
            <a:r>
              <a:rPr lang="en-US" sz="1700" dirty="0">
                <a:latin typeface="Times New Roman" panose="02020603050405020304" pitchFamily="18" charset="0"/>
                <a:cs typeface="Times New Roman" panose="02020603050405020304" pitchFamily="18" charset="0"/>
              </a:rPr>
              <a:t>for </a:t>
            </a:r>
            <a:r>
              <a:rPr lang="en-US" sz="1700" dirty="0" err="1">
                <a:latin typeface="Times New Roman" panose="02020603050405020304" pitchFamily="18" charset="0"/>
                <a:cs typeface="Times New Roman" panose="02020603050405020304" pitchFamily="18" charset="0"/>
              </a:rPr>
              <a:t>depthwise</a:t>
            </a:r>
            <a:r>
              <a:rPr lang="en-US" sz="1700" dirty="0">
                <a:latin typeface="Times New Roman" panose="02020603050405020304" pitchFamily="18" charset="0"/>
                <a:cs typeface="Times New Roman" panose="02020603050405020304" pitchFamily="18" charset="0"/>
              </a:rPr>
              <a:t> and combines all channels in pointwise.</a:t>
            </a:r>
          </a:p>
          <a:p>
            <a:r>
              <a:rPr lang="en-US" sz="1700" b="1" dirty="0">
                <a:latin typeface="Times New Roman" panose="02020603050405020304" pitchFamily="18" charset="0"/>
                <a:cs typeface="Times New Roman" panose="02020603050405020304" pitchFamily="18" charset="0"/>
              </a:rPr>
              <a:t>Step 4: Inverted Residual Blocks </a:t>
            </a:r>
          </a:p>
          <a:p>
            <a:pPr marL="0" indent="0">
              <a:buNone/>
            </a:pPr>
            <a:r>
              <a:rPr lang="en-US" sz="1700" dirty="0">
                <a:latin typeface="Times New Roman" panose="02020603050405020304" pitchFamily="18" charset="0"/>
                <a:cs typeface="Times New Roman" panose="02020603050405020304" pitchFamily="18" charset="0"/>
              </a:rPr>
              <a:t> Expands, processes, and compresses features to retain key lung disease patterns.</a:t>
            </a:r>
          </a:p>
          <a:p>
            <a:r>
              <a:rPr lang="en-US" sz="1700" b="1" dirty="0">
                <a:latin typeface="Times New Roman" panose="02020603050405020304" pitchFamily="18" charset="0"/>
                <a:cs typeface="Times New Roman" panose="02020603050405020304" pitchFamily="18" charset="0"/>
              </a:rPr>
              <a:t>Step 5: Linear Bottleneck </a:t>
            </a:r>
          </a:p>
          <a:p>
            <a:pPr marL="0" indent="0">
              <a:buNone/>
            </a:pPr>
            <a:r>
              <a:rPr lang="en-US" sz="1700" dirty="0">
                <a:latin typeface="Times New Roman" panose="02020603050405020304" pitchFamily="18" charset="0"/>
                <a:cs typeface="Times New Roman" panose="02020603050405020304" pitchFamily="18" charset="0"/>
              </a:rPr>
              <a:t> Prevents loss of important feature information during compression.</a:t>
            </a:r>
          </a:p>
          <a:p>
            <a:r>
              <a:rPr lang="en-US" sz="1700" b="1" dirty="0">
                <a:latin typeface="Times New Roman" panose="02020603050405020304" pitchFamily="18" charset="0"/>
                <a:cs typeface="Times New Roman" panose="02020603050405020304" pitchFamily="18" charset="0"/>
              </a:rPr>
              <a:t>Step 6: CBAM Attention </a:t>
            </a:r>
          </a:p>
          <a:p>
            <a:pPr marL="0" indent="0">
              <a:buNone/>
            </a:pPr>
            <a:r>
              <a:rPr lang="en-US" sz="1700" dirty="0">
                <a:latin typeface="Times New Roman" panose="02020603050405020304" pitchFamily="18" charset="0"/>
                <a:cs typeface="Times New Roman" panose="02020603050405020304" pitchFamily="18" charset="0"/>
              </a:rPr>
              <a:t>Highlights relevant lung regions and suppresses unnecessary background areas.</a:t>
            </a:r>
          </a:p>
          <a:p>
            <a:r>
              <a:rPr lang="en-US" sz="1700" b="1" dirty="0">
                <a:latin typeface="Times New Roman" panose="02020603050405020304" pitchFamily="18" charset="0"/>
                <a:cs typeface="Times New Roman" panose="02020603050405020304" pitchFamily="18" charset="0"/>
              </a:rPr>
              <a:t>Step 7: Global Average Pooling &amp; Dense Layer </a:t>
            </a:r>
          </a:p>
          <a:p>
            <a:pPr marL="0" indent="0">
              <a:buNone/>
            </a:pPr>
            <a:r>
              <a:rPr lang="en-US" sz="1700" dirty="0">
                <a:latin typeface="Times New Roman" panose="02020603050405020304" pitchFamily="18" charset="0"/>
                <a:cs typeface="Times New Roman" panose="02020603050405020304" pitchFamily="18" charset="0"/>
              </a:rPr>
              <a:t> Converts features into a vector and learns high-level disease patterns.</a:t>
            </a:r>
          </a:p>
          <a:p>
            <a:r>
              <a:rPr lang="en-US" sz="1700" b="1" dirty="0">
                <a:latin typeface="Times New Roman" panose="02020603050405020304" pitchFamily="18" charset="0"/>
                <a:cs typeface="Times New Roman" panose="02020603050405020304" pitchFamily="18" charset="0"/>
              </a:rPr>
              <a:t>Step 8: Output &amp; Prediction </a:t>
            </a:r>
            <a:r>
              <a:rPr lang="en-US" sz="1700" dirty="0">
                <a:latin typeface="Times New Roman" panose="02020603050405020304" pitchFamily="18" charset="0"/>
                <a:cs typeface="Times New Roman" panose="02020603050405020304" pitchFamily="18" charset="0"/>
              </a:rPr>
              <a:t>— </a:t>
            </a:r>
            <a:r>
              <a:rPr lang="en-US" sz="1700" dirty="0" err="1">
                <a:latin typeface="Times New Roman" panose="02020603050405020304" pitchFamily="18" charset="0"/>
                <a:cs typeface="Times New Roman" panose="02020603050405020304" pitchFamily="18" charset="0"/>
              </a:rPr>
              <a:t>Softmax</a:t>
            </a:r>
            <a:r>
              <a:rPr lang="en-US" sz="1700" dirty="0">
                <a:latin typeface="Times New Roman" panose="02020603050405020304" pitchFamily="18" charset="0"/>
                <a:cs typeface="Times New Roman" panose="02020603050405020304" pitchFamily="18" charset="0"/>
              </a:rPr>
              <a:t> outputs probabilities for 5 classes and the highest one is the final predicted disease.</a:t>
            </a:r>
          </a:p>
        </p:txBody>
      </p:sp>
    </p:spTree>
    <p:extLst>
      <p:ext uri="{BB962C8B-B14F-4D97-AF65-F5344CB8AC3E}">
        <p14:creationId xmlns:p14="http://schemas.microsoft.com/office/powerpoint/2010/main" val="33132406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92CD8-B9D9-4A4D-2C70-7473E1901E93}"/>
              </a:ext>
            </a:extLst>
          </p:cNvPr>
          <p:cNvSpPr>
            <a:spLocks noGrp="1"/>
          </p:cNvSpPr>
          <p:nvPr>
            <p:ph type="title"/>
          </p:nvPr>
        </p:nvSpPr>
        <p:spPr>
          <a:xfrm>
            <a:off x="626165" y="18255"/>
            <a:ext cx="10515600" cy="1325563"/>
          </a:xfrm>
        </p:spPr>
        <p:txBody>
          <a:bodyPr>
            <a:normAutofit/>
          </a:bodyPr>
          <a:lstStyle/>
          <a:p>
            <a:r>
              <a:rPr lang="en-IN" sz="2800" b="1" dirty="0">
                <a:latin typeface="Times New Roman" panose="02020603050405020304" pitchFamily="18" charset="0"/>
                <a:cs typeface="Times New Roman" panose="02020603050405020304" pitchFamily="18" charset="0"/>
              </a:rPr>
              <a:t>CBAM (Convolutional Block Attention Module)</a:t>
            </a:r>
          </a:p>
        </p:txBody>
      </p:sp>
      <p:sp>
        <p:nvSpPr>
          <p:cNvPr id="3" name="Content Placeholder 2">
            <a:extLst>
              <a:ext uri="{FF2B5EF4-FFF2-40B4-BE49-F238E27FC236}">
                <a16:creationId xmlns:a16="http://schemas.microsoft.com/office/drawing/2014/main" id="{78D56595-08F4-89AB-2B65-DC161210A52E}"/>
              </a:ext>
            </a:extLst>
          </p:cNvPr>
          <p:cNvSpPr>
            <a:spLocks noGrp="1"/>
          </p:cNvSpPr>
          <p:nvPr>
            <p:ph idx="1"/>
          </p:nvPr>
        </p:nvSpPr>
        <p:spPr>
          <a:xfrm>
            <a:off x="626165" y="1188972"/>
            <a:ext cx="10515600" cy="5650773"/>
          </a:xfrm>
        </p:spPr>
        <p:txBody>
          <a:bodyPr>
            <a:noAutofit/>
          </a:bodyPr>
          <a:lstStyle/>
          <a:p>
            <a:r>
              <a:rPr lang="en-US" sz="2200" b="1" dirty="0">
                <a:latin typeface="Times New Roman" panose="02020603050405020304" pitchFamily="18" charset="0"/>
                <a:cs typeface="Times New Roman" panose="02020603050405020304" pitchFamily="18" charset="0"/>
              </a:rPr>
              <a:t>Step 1: Input Feature Map — </a:t>
            </a:r>
            <a:r>
              <a:rPr lang="en-US" sz="2200" dirty="0">
                <a:latin typeface="Times New Roman" panose="02020603050405020304" pitchFamily="18" charset="0"/>
                <a:cs typeface="Times New Roman" panose="02020603050405020304" pitchFamily="18" charset="0"/>
              </a:rPr>
              <a:t>The output feature map from MobileNetV2 is passed as input to the CBAM block.</a:t>
            </a:r>
          </a:p>
          <a:p>
            <a:r>
              <a:rPr lang="en-US" sz="2200" b="1" dirty="0">
                <a:latin typeface="Times New Roman" panose="02020603050405020304" pitchFamily="18" charset="0"/>
                <a:cs typeface="Times New Roman" panose="02020603050405020304" pitchFamily="18" charset="0"/>
              </a:rPr>
              <a:t>Step 2: Channel Attention Generation — </a:t>
            </a:r>
            <a:r>
              <a:rPr lang="en-US" sz="2200" dirty="0">
                <a:latin typeface="Times New Roman" panose="02020603050405020304" pitchFamily="18" charset="0"/>
                <a:cs typeface="Times New Roman" panose="02020603050405020304" pitchFamily="18" charset="0"/>
              </a:rPr>
              <a:t>Global Average Pooling and Global Max Pooling are applied on the feature map and passed through a shared Dense layer to learn channel importance.</a:t>
            </a:r>
          </a:p>
          <a:p>
            <a:r>
              <a:rPr lang="en-US" sz="2200" b="1" dirty="0">
                <a:latin typeface="Times New Roman" panose="02020603050405020304" pitchFamily="18" charset="0"/>
                <a:cs typeface="Times New Roman" panose="02020603050405020304" pitchFamily="18" charset="0"/>
              </a:rPr>
              <a:t>Step 3: Channel Attention Output — </a:t>
            </a:r>
            <a:r>
              <a:rPr lang="en-US" sz="2200" dirty="0">
                <a:latin typeface="Times New Roman" panose="02020603050405020304" pitchFamily="18" charset="0"/>
                <a:cs typeface="Times New Roman" panose="02020603050405020304" pitchFamily="18" charset="0"/>
              </a:rPr>
              <a:t>Both outputs are added and passed through Sigmoid activation to generate channel weights, highlighting the most important feature channels.</a:t>
            </a:r>
          </a:p>
          <a:p>
            <a:r>
              <a:rPr lang="en-US" sz="2200" b="1" dirty="0">
                <a:latin typeface="Times New Roman" panose="02020603050405020304" pitchFamily="18" charset="0"/>
                <a:cs typeface="Times New Roman" panose="02020603050405020304" pitchFamily="18" charset="0"/>
              </a:rPr>
              <a:t>Step 4: Spatial Attention Generation — </a:t>
            </a:r>
            <a:r>
              <a:rPr lang="en-US" sz="2200" dirty="0">
                <a:latin typeface="Times New Roman" panose="02020603050405020304" pitchFamily="18" charset="0"/>
                <a:cs typeface="Times New Roman" panose="02020603050405020304" pitchFamily="18" charset="0"/>
              </a:rPr>
              <a:t>Average and Max values are computed along the channel axis, concatenated, and passed through a Convolution layer to capture spatial information.</a:t>
            </a:r>
          </a:p>
          <a:p>
            <a:r>
              <a:rPr lang="en-US" sz="2200" b="1" dirty="0">
                <a:latin typeface="Times New Roman" panose="02020603050405020304" pitchFamily="18" charset="0"/>
                <a:cs typeface="Times New Roman" panose="02020603050405020304" pitchFamily="18" charset="0"/>
              </a:rPr>
              <a:t>Step 5: Spatial Attention Output — </a:t>
            </a:r>
            <a:r>
              <a:rPr lang="en-US" sz="2200" dirty="0">
                <a:latin typeface="Times New Roman" panose="02020603050405020304" pitchFamily="18" charset="0"/>
                <a:cs typeface="Times New Roman" panose="02020603050405020304" pitchFamily="18" charset="0"/>
              </a:rPr>
              <a:t>Sigmoid activation generates spatial weights that focus on the most diagnostically relevant lung regions in the feature map.</a:t>
            </a:r>
          </a:p>
          <a:p>
            <a:r>
              <a:rPr lang="en-US" sz="2200" b="1" dirty="0">
                <a:latin typeface="Times New Roman" panose="02020603050405020304" pitchFamily="18" charset="0"/>
                <a:cs typeface="Times New Roman" panose="02020603050405020304" pitchFamily="18" charset="0"/>
              </a:rPr>
              <a:t>Step 6: Final Refined Output — </a:t>
            </a:r>
            <a:r>
              <a:rPr lang="en-US" sz="2200" dirty="0">
                <a:latin typeface="Times New Roman" panose="02020603050405020304" pitchFamily="18" charset="0"/>
                <a:cs typeface="Times New Roman" panose="02020603050405020304" pitchFamily="18" charset="0"/>
              </a:rPr>
              <a:t>The feature map is multiplied with both channel and spatial attention weights and the final refined map is passed to classification layers for lung disease prediction.</a:t>
            </a:r>
          </a:p>
        </p:txBody>
      </p:sp>
    </p:spTree>
    <p:extLst>
      <p:ext uri="{BB962C8B-B14F-4D97-AF65-F5344CB8AC3E}">
        <p14:creationId xmlns:p14="http://schemas.microsoft.com/office/powerpoint/2010/main" val="3935624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EBFC6-BEED-6F6F-1A60-F85D20D80145}"/>
              </a:ext>
            </a:extLst>
          </p:cNvPr>
          <p:cNvSpPr>
            <a:spLocks noGrp="1"/>
          </p:cNvSpPr>
          <p:nvPr>
            <p:ph type="title"/>
          </p:nvPr>
        </p:nvSpPr>
        <p:spPr>
          <a:xfrm>
            <a:off x="3674165" y="-331304"/>
            <a:ext cx="10515600" cy="1325563"/>
          </a:xfrm>
        </p:spPr>
        <p:txBody>
          <a:bodyPr>
            <a:normAutofit/>
          </a:bodyPr>
          <a:lstStyle/>
          <a:p>
            <a:r>
              <a:rPr lang="en-US" sz="2800" b="1" dirty="0">
                <a:latin typeface="Times New Roman" panose="02020603050405020304" pitchFamily="18" charset="0"/>
                <a:cs typeface="Times New Roman" panose="02020603050405020304" pitchFamily="18" charset="0"/>
              </a:rPr>
              <a:t>K-MEANS</a:t>
            </a:r>
            <a:endParaRPr lang="en-IN"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4C8EFD0-6BC5-482C-B976-08C50E988934}"/>
              </a:ext>
            </a:extLst>
          </p:cNvPr>
          <p:cNvSpPr>
            <a:spLocks noGrp="1"/>
          </p:cNvSpPr>
          <p:nvPr>
            <p:ph idx="1"/>
          </p:nvPr>
        </p:nvSpPr>
        <p:spPr>
          <a:xfrm>
            <a:off x="732183" y="781879"/>
            <a:ext cx="10515600" cy="5970104"/>
          </a:xfrm>
        </p:spPr>
        <p:txBody>
          <a:bodyPr>
            <a:normAutofit fontScale="70000" lnSpcReduction="20000"/>
          </a:bodyPr>
          <a:lstStyle/>
          <a:p>
            <a:pPr marL="0" indent="0">
              <a:buNone/>
            </a:pPr>
            <a:r>
              <a:rPr lang="en-US" b="1" dirty="0">
                <a:latin typeface="Times New Roman" panose="02020603050405020304" pitchFamily="18" charset="0"/>
                <a:cs typeface="Times New Roman" panose="02020603050405020304" pitchFamily="18" charset="0"/>
              </a:rPr>
              <a:t>1. Load and Preprocess Images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X-ray scan images are loaded, resized to </a:t>
            </a:r>
            <a:r>
              <a:rPr lang="en-US" b="1" dirty="0">
                <a:latin typeface="Times New Roman" panose="02020603050405020304" pitchFamily="18" charset="0"/>
                <a:cs typeface="Times New Roman" panose="02020603050405020304" pitchFamily="18" charset="0"/>
              </a:rPr>
              <a:t>224×224</a:t>
            </a:r>
            <a:r>
              <a:rPr lang="en-US" dirty="0">
                <a:latin typeface="Times New Roman" panose="02020603050405020304" pitchFamily="18" charset="0"/>
                <a:cs typeface="Times New Roman" panose="02020603050405020304" pitchFamily="18" charset="0"/>
              </a:rPr>
              <a:t>, and converted to grayscale. </a:t>
            </a:r>
          </a:p>
          <a:p>
            <a:r>
              <a:rPr lang="en-US" dirty="0">
                <a:latin typeface="Times New Roman" panose="02020603050405020304" pitchFamily="18" charset="0"/>
                <a:cs typeface="Times New Roman" panose="02020603050405020304" pitchFamily="18" charset="0"/>
              </a:rPr>
              <a:t>Histogram equalization is applied to enhance image quality. </a:t>
            </a:r>
          </a:p>
          <a:p>
            <a:endParaRPr lang="en-US" sz="1000"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2. Extract Features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HOG is used to extract texture and edge features. </a:t>
            </a:r>
          </a:p>
          <a:p>
            <a:r>
              <a:rPr lang="en-US" dirty="0">
                <a:latin typeface="Times New Roman" panose="02020603050405020304" pitchFamily="18" charset="0"/>
                <a:cs typeface="Times New Roman" panose="02020603050405020304" pitchFamily="18" charset="0"/>
              </a:rPr>
              <a:t>Images are converted into numerical feature vectors. </a:t>
            </a:r>
          </a:p>
          <a:p>
            <a:endParaRPr lang="en-US" sz="1000"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3. Apply K-Means (K = 2)</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K-Means clustering is applied with </a:t>
            </a:r>
            <a:r>
              <a:rPr lang="en-US" b="1" dirty="0">
                <a:latin typeface="Times New Roman" panose="02020603050405020304" pitchFamily="18" charset="0"/>
                <a:cs typeface="Times New Roman" panose="02020603050405020304" pitchFamily="18" charset="0"/>
              </a:rPr>
              <a:t>K = 2</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Images are grouped into 2 clusters based on similarity. </a:t>
            </a:r>
          </a:p>
          <a:p>
            <a:pPr marL="0" indent="0">
              <a:buNone/>
            </a:pPr>
            <a:endParaRPr lang="en-US" sz="1000"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4. Assign Cluster Labels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Each image gets a cluster label (0, 1). </a:t>
            </a:r>
          </a:p>
          <a:p>
            <a:r>
              <a:rPr lang="en-US" dirty="0">
                <a:latin typeface="Times New Roman" panose="02020603050405020304" pitchFamily="18" charset="0"/>
                <a:cs typeface="Times New Roman" panose="02020603050405020304" pitchFamily="18" charset="0"/>
              </a:rPr>
              <a:t>These labels represent similar lung patterns. </a:t>
            </a:r>
            <a:br>
              <a:rPr lang="en-US" dirty="0">
                <a:latin typeface="Times New Roman" panose="02020603050405020304" pitchFamily="18" charset="0"/>
                <a:cs typeface="Times New Roman" panose="02020603050405020304" pitchFamily="18" charset="0"/>
              </a:rPr>
            </a:br>
            <a:endParaRPr lang="en-US" sz="2700" dirty="0">
              <a:latin typeface="Times New Roman" panose="02020603050405020304" pitchFamily="18" charset="0"/>
              <a:cs typeface="Times New Roman" panose="02020603050405020304" pitchFamily="18" charset="0"/>
            </a:endParaRPr>
          </a:p>
          <a:p>
            <a:pPr marL="0" indent="0">
              <a:buNone/>
            </a:pPr>
            <a:r>
              <a:rPr lang="en-US" sz="2700" b="1" dirty="0">
                <a:latin typeface="Times New Roman" panose="02020603050405020304" pitchFamily="18" charset="0"/>
                <a:cs typeface="Times New Roman" panose="02020603050405020304" pitchFamily="18" charset="0"/>
              </a:rPr>
              <a:t>5. Interpret Clustered Patterns</a:t>
            </a:r>
          </a:p>
          <a:p>
            <a:r>
              <a:rPr lang="en-US" sz="2700" dirty="0">
                <a:latin typeface="Times New Roman" panose="02020603050405020304" pitchFamily="18" charset="0"/>
                <a:cs typeface="Times New Roman" panose="02020603050405020304" pitchFamily="18" charset="0"/>
              </a:rPr>
              <a:t>Analyze grouped images to understand feature similarities </a:t>
            </a:r>
          </a:p>
          <a:p>
            <a:r>
              <a:rPr lang="en-US" sz="2700" dirty="0">
                <a:latin typeface="Times New Roman" panose="02020603050405020304" pitchFamily="18" charset="0"/>
                <a:cs typeface="Times New Roman" panose="02020603050405020304" pitchFamily="18" charset="0"/>
              </a:rPr>
              <a:t>Use clustering insights to support further model development </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54267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D567FFD-E748-1771-B7F0-9499439DB2B5}"/>
              </a:ext>
            </a:extLst>
          </p:cNvPr>
          <p:cNvPicPr>
            <a:picLocks noChangeAspect="1"/>
          </p:cNvPicPr>
          <p:nvPr/>
        </p:nvPicPr>
        <p:blipFill>
          <a:blip r:embed="rId2"/>
          <a:stretch>
            <a:fillRect/>
          </a:stretch>
        </p:blipFill>
        <p:spPr>
          <a:xfrm>
            <a:off x="1351722" y="1401923"/>
            <a:ext cx="9263269" cy="5006349"/>
          </a:xfrm>
          <a:prstGeom prst="rect">
            <a:avLst/>
          </a:prstGeom>
        </p:spPr>
      </p:pic>
      <p:sp>
        <p:nvSpPr>
          <p:cNvPr id="6" name="TextBox 5">
            <a:extLst>
              <a:ext uri="{FF2B5EF4-FFF2-40B4-BE49-F238E27FC236}">
                <a16:creationId xmlns:a16="http://schemas.microsoft.com/office/drawing/2014/main" id="{7B94FB9C-0B38-1B90-2825-7572C10AFEAE}"/>
              </a:ext>
            </a:extLst>
          </p:cNvPr>
          <p:cNvSpPr txBox="1"/>
          <p:nvPr/>
        </p:nvSpPr>
        <p:spPr>
          <a:xfrm>
            <a:off x="728870" y="556591"/>
            <a:ext cx="6347791" cy="553998"/>
          </a:xfrm>
          <a:prstGeom prst="rect">
            <a:avLst/>
          </a:prstGeom>
          <a:noFill/>
        </p:spPr>
        <p:txBody>
          <a:bodyPr wrap="square" rtlCol="0">
            <a:spAutoFit/>
          </a:bodyPr>
          <a:lstStyle/>
          <a:p>
            <a:r>
              <a:rPr lang="en-US" sz="3000" b="1" dirty="0">
                <a:latin typeface="Times New Roman" panose="02020603050405020304" pitchFamily="18" charset="0"/>
                <a:cs typeface="Times New Roman" panose="02020603050405020304" pitchFamily="18" charset="0"/>
              </a:rPr>
              <a:t>ARCHITECTURE  DIAGRAM</a:t>
            </a:r>
            <a:endParaRPr lang="en-IN" sz="3000" b="1" dirty="0">
              <a:latin typeface="Times New Roman" panose="02020603050405020304" pitchFamily="18" charset="0"/>
              <a:cs typeface="Times New Roman" panose="02020603050405020304" pitchFamily="18" charset="0"/>
            </a:endParaRPr>
          </a:p>
        </p:txBody>
      </p:sp>
      <p:sp>
        <p:nvSpPr>
          <p:cNvPr id="2" name="Rectangle: Rounded Corners 1">
            <a:extLst>
              <a:ext uri="{FF2B5EF4-FFF2-40B4-BE49-F238E27FC236}">
                <a16:creationId xmlns:a16="http://schemas.microsoft.com/office/drawing/2014/main" id="{BEE9C8B6-92C0-5392-95AF-C3B6233A79D9}"/>
              </a:ext>
            </a:extLst>
          </p:cNvPr>
          <p:cNvSpPr/>
          <p:nvPr/>
        </p:nvSpPr>
        <p:spPr>
          <a:xfrm>
            <a:off x="7368209" y="3074504"/>
            <a:ext cx="1113182" cy="251792"/>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300" dirty="0">
                <a:latin typeface="Times New Roman" panose="02020603050405020304" pitchFamily="18" charset="0"/>
                <a:cs typeface="Times New Roman" panose="02020603050405020304" pitchFamily="18" charset="0"/>
              </a:rPr>
              <a:t>Normal</a:t>
            </a:r>
            <a:endParaRPr lang="en-IN" sz="1300" dirty="0">
              <a:latin typeface="Times New Roman" panose="02020603050405020304" pitchFamily="18" charset="0"/>
              <a:cs typeface="Times New Roman" panose="02020603050405020304" pitchFamily="18" charset="0"/>
            </a:endParaRPr>
          </a:p>
        </p:txBody>
      </p:sp>
      <p:sp>
        <p:nvSpPr>
          <p:cNvPr id="3" name="Rectangle: Rounded Corners 2">
            <a:extLst>
              <a:ext uri="{FF2B5EF4-FFF2-40B4-BE49-F238E27FC236}">
                <a16:creationId xmlns:a16="http://schemas.microsoft.com/office/drawing/2014/main" id="{BA3080FD-E791-1BF7-05F5-53855DDB586F}"/>
              </a:ext>
            </a:extLst>
          </p:cNvPr>
          <p:cNvSpPr/>
          <p:nvPr/>
        </p:nvSpPr>
        <p:spPr>
          <a:xfrm>
            <a:off x="9097617" y="3074504"/>
            <a:ext cx="1113182" cy="251792"/>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300" dirty="0">
                <a:latin typeface="Times New Roman" panose="02020603050405020304" pitchFamily="18" charset="0"/>
                <a:cs typeface="Times New Roman" panose="02020603050405020304" pitchFamily="18" charset="0"/>
              </a:rPr>
              <a:t>Abnormal</a:t>
            </a:r>
            <a:endParaRPr lang="en-IN" sz="1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84953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0F0D6-CF8D-C8F0-2F65-A55BE2315C84}"/>
              </a:ext>
            </a:extLst>
          </p:cNvPr>
          <p:cNvSpPr>
            <a:spLocks noGrp="1"/>
          </p:cNvSpPr>
          <p:nvPr>
            <p:ph type="title"/>
          </p:nvPr>
        </p:nvSpPr>
        <p:spPr>
          <a:xfrm>
            <a:off x="838200" y="-178214"/>
            <a:ext cx="10515600" cy="1325563"/>
          </a:xfrm>
        </p:spPr>
        <p:txBody>
          <a:bodyPr>
            <a:normAutofit/>
          </a:bodyPr>
          <a:lstStyle/>
          <a:p>
            <a:r>
              <a:rPr lang="en-IN" sz="3000" b="1" dirty="0">
                <a:latin typeface="Times New Roman" panose="02020603050405020304" pitchFamily="18" charset="0"/>
                <a:cs typeface="Times New Roman" panose="02020603050405020304" pitchFamily="18" charset="0"/>
              </a:rPr>
              <a:t>IMPLEMENTATION STEPS</a:t>
            </a:r>
          </a:p>
        </p:txBody>
      </p:sp>
      <p:sp>
        <p:nvSpPr>
          <p:cNvPr id="3" name="Content Placeholder 2">
            <a:extLst>
              <a:ext uri="{FF2B5EF4-FFF2-40B4-BE49-F238E27FC236}">
                <a16:creationId xmlns:a16="http://schemas.microsoft.com/office/drawing/2014/main" id="{3EB6214A-6E79-454E-1E10-F3E35E035D93}"/>
              </a:ext>
            </a:extLst>
          </p:cNvPr>
          <p:cNvSpPr>
            <a:spLocks noGrp="1"/>
          </p:cNvSpPr>
          <p:nvPr>
            <p:ph idx="1"/>
          </p:nvPr>
        </p:nvSpPr>
        <p:spPr>
          <a:xfrm>
            <a:off x="679174" y="1147349"/>
            <a:ext cx="10515600" cy="5489575"/>
          </a:xfrm>
        </p:spPr>
        <p:txBody>
          <a:bodyPr>
            <a:normAutofit/>
          </a:bodyPr>
          <a:lstStyle/>
          <a:p>
            <a:pPr marL="0" indent="0">
              <a:buNone/>
            </a:pPr>
            <a:r>
              <a:rPr lang="en-US" sz="2000" b="1" dirty="0">
                <a:latin typeface="Times New Roman" panose="02020603050405020304" pitchFamily="18" charset="0"/>
                <a:cs typeface="Times New Roman" panose="02020603050405020304" pitchFamily="18" charset="0"/>
              </a:rPr>
              <a:t>1.   Dataset Collection &amp; Preparation:</a:t>
            </a:r>
          </a:p>
          <a:p>
            <a:pPr marL="0" indent="0">
              <a:buNone/>
            </a:pPr>
            <a:r>
              <a:rPr lang="en-US" sz="2000" dirty="0">
                <a:latin typeface="Times New Roman" panose="02020603050405020304" pitchFamily="18" charset="0"/>
                <a:cs typeface="Times New Roman" panose="02020603050405020304" pitchFamily="18" charset="0"/>
              </a:rPr>
              <a:t>Collected chest X-ray images across 5 classes: Bacterial Pneumonia, Viral Pneumonia, COVID-19, Tuberculosis, and Normal. Split into train, validation, and test sets.</a:t>
            </a:r>
          </a:p>
          <a:p>
            <a:pPr marL="0" indent="0">
              <a:buNone/>
            </a:pPr>
            <a:r>
              <a:rPr lang="en-US" sz="2000" b="1" dirty="0">
                <a:latin typeface="Times New Roman" panose="02020603050405020304" pitchFamily="18" charset="0"/>
                <a:cs typeface="Times New Roman" panose="02020603050405020304" pitchFamily="18" charset="0"/>
              </a:rPr>
              <a:t>2.   Data Preprocessing:</a:t>
            </a:r>
          </a:p>
          <a:p>
            <a:pPr marL="0" indent="0">
              <a:buNone/>
            </a:pPr>
            <a:r>
              <a:rPr lang="en-US" sz="2000" dirty="0">
                <a:latin typeface="Times New Roman" panose="02020603050405020304" pitchFamily="18" charset="0"/>
                <a:cs typeface="Times New Roman" panose="02020603050405020304" pitchFamily="18" charset="0"/>
              </a:rPr>
              <a:t>Histogram Equalization to enhance contrast, Image Resizing to 224×224 pixels for MobileNetV2 compatibility, Normalization to scale pixel values to [0–1], and Standardization using </a:t>
            </a:r>
            <a:r>
              <a:rPr lang="en-US" sz="2000" dirty="0" err="1">
                <a:latin typeface="Times New Roman" panose="02020603050405020304" pitchFamily="18" charset="0"/>
                <a:cs typeface="Times New Roman" panose="02020603050405020304" pitchFamily="18" charset="0"/>
              </a:rPr>
              <a:t>StandardScaler</a:t>
            </a:r>
            <a:r>
              <a:rPr lang="en-US" sz="2000" dirty="0">
                <a:latin typeface="Times New Roman" panose="02020603050405020304" pitchFamily="18" charset="0"/>
                <a:cs typeface="Times New Roman" panose="02020603050405020304" pitchFamily="18" charset="0"/>
              </a:rPr>
              <a:t> to normalize extracted features to zero mean and unit variance.</a:t>
            </a:r>
          </a:p>
          <a:p>
            <a:pPr marL="0" indent="0">
              <a:buNone/>
            </a:pPr>
            <a:r>
              <a:rPr lang="en-US" sz="2000" b="1" dirty="0">
                <a:latin typeface="Times New Roman" panose="02020603050405020304" pitchFamily="18" charset="0"/>
                <a:cs typeface="Times New Roman" panose="02020603050405020304" pitchFamily="18" charset="0"/>
              </a:rPr>
              <a:t>3.   Feature Extraction &amp; Clustering:</a:t>
            </a:r>
          </a:p>
          <a:p>
            <a:pPr marL="0" indent="0">
              <a:buNone/>
            </a:pPr>
            <a:r>
              <a:rPr lang="en-US" sz="2000" dirty="0">
                <a:latin typeface="Times New Roman" panose="02020603050405020304" pitchFamily="18" charset="0"/>
                <a:cs typeface="Times New Roman" panose="02020603050405020304" pitchFamily="18" charset="0"/>
              </a:rPr>
              <a:t>Extracted HOG features, and pixel intensity ratios from preprocessed images. Used K-Means clustering to group images by complexity for smarter and more adaptive data handling.</a:t>
            </a:r>
          </a:p>
          <a:p>
            <a:pPr marL="0" indent="0">
              <a:buNone/>
            </a:pPr>
            <a:r>
              <a:rPr lang="en-US" sz="2000" b="1" dirty="0">
                <a:latin typeface="Times New Roman" panose="02020603050405020304" pitchFamily="18" charset="0"/>
                <a:cs typeface="Times New Roman" panose="02020603050405020304" pitchFamily="18" charset="0"/>
              </a:rPr>
              <a:t>4.   Model Architecture (MobileNetV2 + CBAM):</a:t>
            </a:r>
          </a:p>
          <a:p>
            <a:pPr marL="0" indent="0">
              <a:buNone/>
            </a:pPr>
            <a:r>
              <a:rPr lang="en-US" sz="2000" dirty="0">
                <a:latin typeface="Times New Roman" panose="02020603050405020304" pitchFamily="18" charset="0"/>
                <a:cs typeface="Times New Roman" panose="02020603050405020304" pitchFamily="18" charset="0"/>
              </a:rPr>
              <a:t>Used MobileNetV2 pretrained on ImageNet as the base model with frozen layers. Added a CBAM (Channel + Spatial Attention) block for focused feature learning, followed by Dense and Dropout layers with a 5-class </a:t>
            </a:r>
            <a:r>
              <a:rPr lang="en-US" sz="2000" dirty="0" err="1">
                <a:latin typeface="Times New Roman" panose="02020603050405020304" pitchFamily="18" charset="0"/>
                <a:cs typeface="Times New Roman" panose="02020603050405020304" pitchFamily="18" charset="0"/>
              </a:rPr>
              <a:t>softmax</a:t>
            </a:r>
            <a:r>
              <a:rPr lang="en-US" sz="2000" dirty="0">
                <a:latin typeface="Times New Roman" panose="02020603050405020304" pitchFamily="18" charset="0"/>
                <a:cs typeface="Times New Roman" panose="02020603050405020304" pitchFamily="18" charset="0"/>
              </a:rPr>
              <a:t> output.</a:t>
            </a:r>
          </a:p>
        </p:txBody>
      </p:sp>
    </p:spTree>
    <p:extLst>
      <p:ext uri="{BB962C8B-B14F-4D97-AF65-F5344CB8AC3E}">
        <p14:creationId xmlns:p14="http://schemas.microsoft.com/office/powerpoint/2010/main" val="3631782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8FDDB2-40CF-A959-F9AF-999176ADD31E}"/>
              </a:ext>
            </a:extLst>
          </p:cNvPr>
          <p:cNvSpPr>
            <a:spLocks noGrp="1"/>
          </p:cNvSpPr>
          <p:nvPr>
            <p:ph idx="1"/>
          </p:nvPr>
        </p:nvSpPr>
        <p:spPr>
          <a:xfrm>
            <a:off x="732183" y="646181"/>
            <a:ext cx="10515600" cy="5979905"/>
          </a:xfrm>
        </p:spPr>
        <p:txBody>
          <a:bodyPr>
            <a:normAutofit/>
          </a:bodyPr>
          <a:lstStyle/>
          <a:p>
            <a:pPr marL="0" indent="0">
              <a:buNone/>
            </a:pPr>
            <a:r>
              <a:rPr lang="en-US" sz="2000" b="1" dirty="0">
                <a:latin typeface="Times New Roman" panose="02020603050405020304" pitchFamily="18" charset="0"/>
                <a:cs typeface="Times New Roman" panose="02020603050405020304" pitchFamily="18" charset="0"/>
              </a:rPr>
              <a:t>5.  Model Training:</a:t>
            </a:r>
          </a:p>
          <a:p>
            <a:pPr marL="0" indent="0">
              <a:buNone/>
            </a:pPr>
            <a:r>
              <a:rPr lang="en-US" sz="2000" dirty="0">
                <a:latin typeface="Times New Roman" panose="02020603050405020304" pitchFamily="18" charset="0"/>
                <a:cs typeface="Times New Roman" panose="02020603050405020304" pitchFamily="18" charset="0"/>
              </a:rPr>
              <a:t>Trained for 20 epochs using a custom Data Generator that dynamically loads and preprocesses batches of X-ray images during training.</a:t>
            </a:r>
          </a:p>
          <a:p>
            <a:pPr marL="0" indent="0">
              <a:buNone/>
            </a:pPr>
            <a:r>
              <a:rPr lang="en-US" sz="2000" b="1" dirty="0">
                <a:latin typeface="Times New Roman" panose="02020603050405020304" pitchFamily="18" charset="0"/>
                <a:cs typeface="Times New Roman" panose="02020603050405020304" pitchFamily="18" charset="0"/>
              </a:rPr>
              <a:t>6.   Model Evaluation &amp; Performance Analysis:</a:t>
            </a:r>
          </a:p>
          <a:p>
            <a:pPr marL="0" indent="0">
              <a:buNone/>
            </a:pPr>
            <a:r>
              <a:rPr lang="en-US" sz="2000" dirty="0">
                <a:latin typeface="Times New Roman" panose="02020603050405020304" pitchFamily="18" charset="0"/>
                <a:cs typeface="Times New Roman" panose="02020603050405020304" pitchFamily="18" charset="0"/>
              </a:rPr>
              <a:t> Evaluated the trained model on the test set by measuring accuracy</a:t>
            </a:r>
            <a:r>
              <a:rPr lang="en-US" sz="2000">
                <a:latin typeface="Times New Roman" panose="02020603050405020304" pitchFamily="18" charset="0"/>
                <a:cs typeface="Times New Roman" panose="02020603050405020304" pitchFamily="18" charset="0"/>
              </a:rPr>
              <a:t>, loss. </a:t>
            </a:r>
            <a:r>
              <a:rPr lang="en-US" sz="2000" dirty="0">
                <a:latin typeface="Times New Roman" panose="02020603050405020304" pitchFamily="18" charset="0"/>
                <a:cs typeface="Times New Roman" panose="02020603050405020304" pitchFamily="18" charset="0"/>
              </a:rPr>
              <a:t>Visualized real, generated, and reconstructed image comparisons to validate model quality.</a:t>
            </a:r>
          </a:p>
          <a:p>
            <a:pPr marL="0" indent="0">
              <a:buNone/>
            </a:pPr>
            <a:r>
              <a:rPr lang="en-US" sz="2000" b="1" dirty="0">
                <a:latin typeface="Times New Roman" panose="02020603050405020304" pitchFamily="18" charset="0"/>
                <a:cs typeface="Times New Roman" panose="02020603050405020304" pitchFamily="18" charset="0"/>
              </a:rPr>
              <a:t>7.   Android Mobile Application Development:</a:t>
            </a:r>
          </a:p>
          <a:p>
            <a:pPr marL="0" indent="0">
              <a:buNone/>
            </a:pPr>
            <a:r>
              <a:rPr lang="en-US" sz="2000" dirty="0">
                <a:latin typeface="Times New Roman" panose="02020603050405020304" pitchFamily="18" charset="0"/>
                <a:cs typeface="Times New Roman" panose="02020603050405020304" pitchFamily="18" charset="0"/>
              </a:rPr>
              <a:t>Designed and developed a user-friendly mobile application using Android Studio with user input, image upload, and result display. The app integrates the trained MobileNetV2 model locally, handles real-time inference, and provides a seamless interface connecting all components.</a:t>
            </a:r>
          </a:p>
          <a:p>
            <a:pPr marL="0" indent="0">
              <a:buNone/>
            </a:pPr>
            <a:r>
              <a:rPr lang="en-US" sz="2000" b="1" dirty="0">
                <a:latin typeface="Times New Roman" panose="02020603050405020304" pitchFamily="18" charset="0"/>
                <a:cs typeface="Times New Roman" panose="02020603050405020304" pitchFamily="18" charset="0"/>
              </a:rPr>
              <a:t>8.   Disease Prediction &amp; AI Medical Report Generation:</a:t>
            </a:r>
          </a:p>
          <a:p>
            <a:pPr marL="0" indent="0">
              <a:buNone/>
            </a:pPr>
            <a:r>
              <a:rPr lang="en-US" sz="2000" dirty="0">
                <a:latin typeface="Times New Roman" panose="02020603050405020304" pitchFamily="18" charset="0"/>
                <a:cs typeface="Times New Roman" panose="02020603050405020304" pitchFamily="18" charset="0"/>
              </a:rPr>
              <a:t> The model classifies the X-ray into one of 5 lung disease categories and generates an AI-powered medical report summarizing the diagnosis, presented to the user within the mobile app.</a:t>
            </a:r>
          </a:p>
        </p:txBody>
      </p:sp>
    </p:spTree>
    <p:extLst>
      <p:ext uri="{BB962C8B-B14F-4D97-AF65-F5344CB8AC3E}">
        <p14:creationId xmlns:p14="http://schemas.microsoft.com/office/powerpoint/2010/main" val="389786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5958" y="-37959"/>
            <a:ext cx="10515600" cy="1325563"/>
          </a:xfrm>
        </p:spPr>
        <p:txBody>
          <a:bodyPr>
            <a:normAutofit/>
          </a:bodyPr>
          <a:lstStyle/>
          <a:p>
            <a:r>
              <a:rPr lang="en-GB" sz="3500" b="1" dirty="0">
                <a:latin typeface="Times New Roman" panose="02020603050405020304" pitchFamily="18" charset="0"/>
                <a:cs typeface="Times New Roman" panose="02020603050405020304" pitchFamily="18" charset="0"/>
              </a:rPr>
              <a:t>RESULTS OBTAINED:</a:t>
            </a:r>
            <a:endParaRPr lang="en-IN" sz="3500" b="1" dirty="0">
              <a:latin typeface="Times New Roman" panose="02020603050405020304" pitchFamily="18" charset="0"/>
              <a:cs typeface="Times New Roman" panose="02020603050405020304" pitchFamily="18" charset="0"/>
            </a:endParaRPr>
          </a:p>
        </p:txBody>
      </p:sp>
      <p:sp>
        <p:nvSpPr>
          <p:cNvPr id="3" name="Rectangle 2"/>
          <p:cNvSpPr/>
          <p:nvPr/>
        </p:nvSpPr>
        <p:spPr>
          <a:xfrm>
            <a:off x="2800800" y="5727547"/>
            <a:ext cx="6096000" cy="369332"/>
          </a:xfrm>
          <a:prstGeom prst="rect">
            <a:avLst/>
          </a:prstGeom>
        </p:spPr>
        <p:txBody>
          <a:bodyPr>
            <a:spAutoFit/>
          </a:bodyPr>
          <a:lstStyle/>
          <a:p>
            <a:pPr marL="685800" algn="ctr">
              <a:spcAft>
                <a:spcPts val="0"/>
              </a:spcAft>
            </a:pPr>
            <a:r>
              <a:rPr lang="en-US" dirty="0">
                <a:latin typeface="Times New Roman" panose="02020603050405020304" pitchFamily="18" charset="0"/>
                <a:ea typeface="Calibri" panose="020F0502020204030204" charset="0"/>
              </a:rPr>
              <a:t>Web Interface of </a:t>
            </a:r>
            <a:r>
              <a:rPr lang="en-US" dirty="0" err="1">
                <a:latin typeface="Times New Roman" panose="02020603050405020304" pitchFamily="18" charset="0"/>
                <a:ea typeface="Calibri" panose="020F0502020204030204" charset="0"/>
              </a:rPr>
              <a:t>LungScan</a:t>
            </a:r>
            <a:r>
              <a:rPr lang="en-US" dirty="0">
                <a:latin typeface="Times New Roman" panose="02020603050405020304" pitchFamily="18" charset="0"/>
                <a:ea typeface="Calibri" panose="020F0502020204030204" charset="0"/>
              </a:rPr>
              <a:t> AI for X-ray Image Upload</a:t>
            </a:r>
            <a:endParaRPr lang="en-IN" b="1" dirty="0">
              <a:effectLst/>
              <a:latin typeface="Times New Roman" panose="02020603050405020304" pitchFamily="18" charset="0"/>
              <a:ea typeface="Times New Roman" panose="02020603050405020304" pitchFamily="18" charset="0"/>
            </a:endParaRPr>
          </a:p>
        </p:txBody>
      </p:sp>
      <p:pic>
        <p:nvPicPr>
          <p:cNvPr id="7" name="Picture 6">
            <a:extLst>
              <a:ext uri="{FF2B5EF4-FFF2-40B4-BE49-F238E27FC236}">
                <a16:creationId xmlns:a16="http://schemas.microsoft.com/office/drawing/2014/main" id="{B46C3C00-421D-2E7E-3898-98AA0C16CD7D}"/>
              </a:ext>
            </a:extLst>
          </p:cNvPr>
          <p:cNvPicPr>
            <a:picLocks noChangeAspect="1"/>
          </p:cNvPicPr>
          <p:nvPr/>
        </p:nvPicPr>
        <p:blipFill>
          <a:blip r:embed="rId2"/>
          <a:stretch>
            <a:fillRect/>
          </a:stretch>
        </p:blipFill>
        <p:spPr>
          <a:xfrm>
            <a:off x="4897160" y="1287604"/>
            <a:ext cx="1903280" cy="396348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36207" y="5815962"/>
            <a:ext cx="6096000" cy="873572"/>
          </a:xfrm>
          <a:prstGeom prst="rect">
            <a:avLst/>
          </a:prstGeom>
        </p:spPr>
        <p:txBody>
          <a:bodyPr>
            <a:spAutoFit/>
          </a:bodyPr>
          <a:lstStyle/>
          <a:p>
            <a:pPr marL="431800" marR="431800" algn="ctr">
              <a:lnSpc>
                <a:spcPct val="150000"/>
              </a:lnSpc>
              <a:spcAft>
                <a:spcPts val="0"/>
              </a:spcAft>
            </a:pPr>
            <a:r>
              <a:rPr lang="en-US" dirty="0">
                <a:latin typeface="Times New Roman" panose="02020603050405020304" pitchFamily="18" charset="0"/>
                <a:ea typeface="Calibri" panose="020F0502020204030204" charset="0"/>
              </a:rPr>
              <a:t>Medical report for patient</a:t>
            </a:r>
          </a:p>
          <a:p>
            <a:pPr marL="431800" marR="431800" algn="ctr">
              <a:lnSpc>
                <a:spcPct val="150000"/>
              </a:lnSpc>
              <a:spcAft>
                <a:spcPts val="0"/>
              </a:spcAft>
            </a:pPr>
            <a:endParaRPr lang="en-IN" b="1" dirty="0">
              <a:effectLst/>
              <a:latin typeface="Times New Roman" panose="02020603050405020304" pitchFamily="18" charset="0"/>
              <a:ea typeface="Times New Roman" panose="02020603050405020304" pitchFamily="18" charset="0"/>
            </a:endParaRPr>
          </a:p>
        </p:txBody>
      </p:sp>
      <p:pic>
        <p:nvPicPr>
          <p:cNvPr id="3" name="Picture 2">
            <a:extLst>
              <a:ext uri="{FF2B5EF4-FFF2-40B4-BE49-F238E27FC236}">
                <a16:creationId xmlns:a16="http://schemas.microsoft.com/office/drawing/2014/main" id="{B6DF0BDA-736A-8612-9F71-91AFCA715610}"/>
              </a:ext>
            </a:extLst>
          </p:cNvPr>
          <p:cNvPicPr>
            <a:picLocks noChangeAspect="1"/>
          </p:cNvPicPr>
          <p:nvPr/>
        </p:nvPicPr>
        <p:blipFill>
          <a:blip r:embed="rId2"/>
          <a:stretch>
            <a:fillRect/>
          </a:stretch>
        </p:blipFill>
        <p:spPr>
          <a:xfrm>
            <a:off x="4651305" y="887896"/>
            <a:ext cx="3339755" cy="466119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6440" y="273210"/>
            <a:ext cx="10515600" cy="1325563"/>
          </a:xfrm>
        </p:spPr>
        <p:txBody>
          <a:bodyPr>
            <a:normAutofit/>
          </a:bodyPr>
          <a:lstStyle/>
          <a:p>
            <a:r>
              <a:rPr lang="en-GB" sz="4000" dirty="0">
                <a:latin typeface="Times New Roman" panose="02020603050405020304" pitchFamily="18" charset="0"/>
                <a:cs typeface="Times New Roman" panose="02020603050405020304" pitchFamily="18" charset="0"/>
              </a:rPr>
              <a:t>Result Analysis:</a:t>
            </a:r>
            <a:endParaRPr lang="en-IN" sz="4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76886EB-1098-AE18-06DB-78CBBEC5E815}"/>
              </a:ext>
            </a:extLst>
          </p:cNvPr>
          <p:cNvPicPr>
            <a:picLocks noChangeAspect="1"/>
          </p:cNvPicPr>
          <p:nvPr/>
        </p:nvPicPr>
        <p:blipFill>
          <a:blip r:embed="rId2"/>
          <a:stretch>
            <a:fillRect/>
          </a:stretch>
        </p:blipFill>
        <p:spPr>
          <a:xfrm>
            <a:off x="472119" y="1938858"/>
            <a:ext cx="5083100" cy="3650210"/>
          </a:xfrm>
          <a:prstGeom prst="rect">
            <a:avLst/>
          </a:prstGeom>
        </p:spPr>
      </p:pic>
      <p:pic>
        <p:nvPicPr>
          <p:cNvPr id="7" name="Picture 6">
            <a:extLst>
              <a:ext uri="{FF2B5EF4-FFF2-40B4-BE49-F238E27FC236}">
                <a16:creationId xmlns:a16="http://schemas.microsoft.com/office/drawing/2014/main" id="{A7A8A365-B615-84A9-2245-73E8701BB68E}"/>
              </a:ext>
            </a:extLst>
          </p:cNvPr>
          <p:cNvPicPr>
            <a:picLocks noChangeAspect="1"/>
          </p:cNvPicPr>
          <p:nvPr/>
        </p:nvPicPr>
        <p:blipFill>
          <a:blip r:embed="rId3"/>
          <a:stretch>
            <a:fillRect/>
          </a:stretch>
        </p:blipFill>
        <p:spPr>
          <a:xfrm>
            <a:off x="6096000" y="2030773"/>
            <a:ext cx="5337443" cy="3558295"/>
          </a:xfrm>
          <a:prstGeom prst="rect">
            <a:avLst/>
          </a:prstGeom>
        </p:spPr>
      </p:pic>
      <p:sp>
        <p:nvSpPr>
          <p:cNvPr id="8" name="TextBox 7">
            <a:extLst>
              <a:ext uri="{FF2B5EF4-FFF2-40B4-BE49-F238E27FC236}">
                <a16:creationId xmlns:a16="http://schemas.microsoft.com/office/drawing/2014/main" id="{09F6BDD2-2D61-2555-2E58-AD5113706030}"/>
              </a:ext>
            </a:extLst>
          </p:cNvPr>
          <p:cNvSpPr txBox="1"/>
          <p:nvPr/>
        </p:nvSpPr>
        <p:spPr>
          <a:xfrm>
            <a:off x="4307840" y="5929153"/>
            <a:ext cx="5547360"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Confusion Matrix And Model Accuracy for MobileNetV2</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1975D-B23F-9394-25EB-94186DD35557}"/>
              </a:ext>
            </a:extLst>
          </p:cNvPr>
          <p:cNvSpPr>
            <a:spLocks noGrp="1"/>
          </p:cNvSpPr>
          <p:nvPr>
            <p:ph type="title"/>
          </p:nvPr>
        </p:nvSpPr>
        <p:spPr>
          <a:xfrm>
            <a:off x="997226" y="18255"/>
            <a:ext cx="10515600" cy="1325563"/>
          </a:xfrm>
        </p:spPr>
        <p:txBody>
          <a:bodyPr>
            <a:normAutofit/>
          </a:bodyPr>
          <a:lstStyle/>
          <a:p>
            <a:r>
              <a:rPr lang="en-GB" sz="4000" dirty="0">
                <a:latin typeface="Times New Roman" panose="02020603050405020304" pitchFamily="18" charset="0"/>
                <a:cs typeface="Times New Roman" panose="02020603050405020304" pitchFamily="18" charset="0"/>
              </a:rPr>
              <a:t>Result Analysis:</a:t>
            </a:r>
            <a:endParaRPr lang="en-IN" sz="4000" dirty="0"/>
          </a:p>
        </p:txBody>
      </p:sp>
      <p:sp>
        <p:nvSpPr>
          <p:cNvPr id="3" name="Content Placeholder 2">
            <a:extLst>
              <a:ext uri="{FF2B5EF4-FFF2-40B4-BE49-F238E27FC236}">
                <a16:creationId xmlns:a16="http://schemas.microsoft.com/office/drawing/2014/main" id="{6C85A774-4826-5206-E6AA-46230CF694BF}"/>
              </a:ext>
            </a:extLst>
          </p:cNvPr>
          <p:cNvSpPr>
            <a:spLocks noGrp="1"/>
          </p:cNvSpPr>
          <p:nvPr>
            <p:ph idx="1"/>
          </p:nvPr>
        </p:nvSpPr>
        <p:spPr>
          <a:xfrm>
            <a:off x="838200" y="1343818"/>
            <a:ext cx="10515600" cy="4833145"/>
          </a:xfrm>
        </p:spPr>
        <p:txBody>
          <a:bodyPr>
            <a:normAutofit/>
          </a:bodyPr>
          <a:lstStyle/>
          <a:p>
            <a:r>
              <a:rPr lang="en-US" sz="2000" b="1" dirty="0">
                <a:latin typeface="Times New Roman" panose="02020603050405020304" pitchFamily="18" charset="0"/>
                <a:cs typeface="Times New Roman" panose="02020603050405020304" pitchFamily="18" charset="0"/>
              </a:rPr>
              <a:t>1. Confusion Matrix — </a:t>
            </a:r>
            <a:r>
              <a:rPr lang="en-US" sz="2000" dirty="0">
                <a:latin typeface="Times New Roman" panose="02020603050405020304" pitchFamily="18" charset="0"/>
                <a:cs typeface="Times New Roman" panose="02020603050405020304" pitchFamily="18" charset="0"/>
              </a:rPr>
              <a:t>The model correctly classified most X-ray images across all 5 classes. Bacterial Pneumonia (336), Corona Virus Disease (394), Normal (379), and Tuberculosis (388) showed high accuracy. Viral Pneumonia had slight misclassification with 112 samples confused with Bacterial Pneumonia due to visual similarity between the two classes.</a:t>
            </a:r>
          </a:p>
          <a:p>
            <a:r>
              <a:rPr lang="en-US" sz="2000" b="1" dirty="0">
                <a:latin typeface="Times New Roman" panose="02020603050405020304" pitchFamily="18" charset="0"/>
                <a:cs typeface="Times New Roman" panose="02020603050405020304" pitchFamily="18" charset="0"/>
              </a:rPr>
              <a:t>2. Accuracy Graph — </a:t>
            </a:r>
            <a:r>
              <a:rPr lang="en-US" sz="2000" dirty="0">
                <a:latin typeface="Times New Roman" panose="02020603050405020304" pitchFamily="18" charset="0"/>
                <a:cs typeface="Times New Roman" panose="02020603050405020304" pitchFamily="18" charset="0"/>
              </a:rPr>
              <a:t>The model achieved a training accuracy of around 90% and validation accuracy of 90% over 20 epochs. The steady improvement and small gap between train and validation accuracy confirms the model learned well without overfitting.</a:t>
            </a:r>
          </a:p>
          <a:p>
            <a:r>
              <a:rPr lang="en-US" sz="2000" b="1" dirty="0">
                <a:latin typeface="Times New Roman" panose="02020603050405020304" pitchFamily="18" charset="0"/>
                <a:cs typeface="Times New Roman" panose="02020603050405020304" pitchFamily="18" charset="0"/>
              </a:rPr>
              <a:t>3. Mobile Application Output — </a:t>
            </a:r>
            <a:r>
              <a:rPr lang="en-US" sz="2000" dirty="0">
                <a:latin typeface="Times New Roman" panose="02020603050405020304" pitchFamily="18" charset="0"/>
                <a:cs typeface="Times New Roman" panose="02020603050405020304" pitchFamily="18" charset="0"/>
              </a:rPr>
              <a:t>The app successfully took user input of name and age, uploaded a chest X-ray, and predicted the disease instantly. The result was displayed on screen with options to save and share the patient report as a PDF.</a:t>
            </a:r>
          </a:p>
          <a:p>
            <a:r>
              <a:rPr lang="en-US" sz="2000" b="1" dirty="0">
                <a:latin typeface="Times New Roman" panose="02020603050405020304" pitchFamily="18" charset="0"/>
                <a:cs typeface="Times New Roman" panose="02020603050405020304" pitchFamily="18" charset="0"/>
              </a:rPr>
              <a:t>4. AI-Generated Medical Report — </a:t>
            </a:r>
            <a:r>
              <a:rPr lang="en-US" sz="2000" dirty="0">
                <a:latin typeface="Times New Roman" panose="02020603050405020304" pitchFamily="18" charset="0"/>
                <a:cs typeface="Times New Roman" panose="02020603050405020304" pitchFamily="18" charset="0"/>
              </a:rPr>
              <a:t>The generated report displayed patient details, predicted disease, next steps, and recommendations including immediate medical consultation, symptom monitoring, hydration, and medication, providing a complete and clinically meaningful diagnosis summary to the user.</a:t>
            </a:r>
          </a:p>
          <a:p>
            <a:pPr marL="0" indent="0">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39076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DD6B5-7C38-944C-E115-6AECEFD29357}"/>
              </a:ext>
            </a:extLst>
          </p:cNvPr>
          <p:cNvSpPr>
            <a:spLocks noGrp="1"/>
          </p:cNvSpPr>
          <p:nvPr>
            <p:ph type="title"/>
          </p:nvPr>
        </p:nvSpPr>
        <p:spPr>
          <a:xfrm>
            <a:off x="732182" y="0"/>
            <a:ext cx="10515600" cy="1325563"/>
          </a:xfrm>
        </p:spPr>
        <p:txBody>
          <a:bodyPr>
            <a:normAutofit/>
          </a:bodyPr>
          <a:lstStyle/>
          <a:p>
            <a:r>
              <a:rPr lang="en-US" sz="2800" b="1" dirty="0">
                <a:latin typeface="Times New Roman" panose="02020603050405020304" pitchFamily="18" charset="0"/>
                <a:cs typeface="Times New Roman" panose="02020603050405020304" pitchFamily="18" charset="0"/>
              </a:rPr>
              <a:t>CONCLUSION</a:t>
            </a:r>
            <a:r>
              <a:rPr lang="en-US" sz="3700" b="1" dirty="0">
                <a:latin typeface="Times New Roman" panose="02020603050405020304" pitchFamily="18" charset="0"/>
                <a:cs typeface="Times New Roman" panose="02020603050405020304" pitchFamily="18" charset="0"/>
              </a:rPr>
              <a:t>:</a:t>
            </a:r>
            <a:endParaRPr lang="en-IN" sz="37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C7EAF3A-26F4-F114-2238-597B48664340}"/>
              </a:ext>
            </a:extLst>
          </p:cNvPr>
          <p:cNvSpPr>
            <a:spLocks noGrp="1"/>
          </p:cNvSpPr>
          <p:nvPr>
            <p:ph idx="1"/>
          </p:nvPr>
        </p:nvSpPr>
        <p:spPr>
          <a:xfrm>
            <a:off x="559904" y="1081088"/>
            <a:ext cx="10515600" cy="5675107"/>
          </a:xfrm>
        </p:spPr>
        <p:txBody>
          <a:bodyPr>
            <a:normAutofit/>
          </a:bodyPr>
          <a:lstStyle/>
          <a:p>
            <a:r>
              <a:rPr lang="en-US" sz="2000" dirty="0">
                <a:latin typeface="Times New Roman" panose="02020603050405020304" pitchFamily="18" charset="0"/>
                <a:cs typeface="Times New Roman" panose="02020603050405020304" pitchFamily="18" charset="0"/>
              </a:rPr>
              <a:t>This project successfully developed a Mobile-Based AI System for Lung Disease Diagnosis using MobileNetV2 with CBAM attention mechanism, achieving a training accuracy of 90% and validation accuracy of 86% across five lung disease categories. The Android application enables users to upload chest X-ray images and instantly receive disease predictions along with AI-generated medical reports containing clinical recommendations.</a:t>
            </a:r>
          </a:p>
          <a:p>
            <a:endParaRPr lang="en-US" sz="800" dirty="0">
              <a:latin typeface="Times New Roman" panose="02020603050405020304" pitchFamily="18" charset="0"/>
              <a:cs typeface="Times New Roman" panose="02020603050405020304" pitchFamily="18" charset="0"/>
            </a:endParaRPr>
          </a:p>
          <a:p>
            <a:pPr marL="0" indent="0">
              <a:buNone/>
            </a:pPr>
            <a:r>
              <a:rPr lang="en-US" sz="2700" b="1" dirty="0">
                <a:latin typeface="Times New Roman" panose="02020603050405020304" pitchFamily="18" charset="0"/>
                <a:cs typeface="Times New Roman" panose="02020603050405020304" pitchFamily="18" charset="0"/>
              </a:rPr>
              <a:t>   FUTURE SCOPE:</a:t>
            </a:r>
          </a:p>
          <a:p>
            <a:pPr marL="0" indent="0">
              <a:buNone/>
            </a:pPr>
            <a:endParaRPr lang="en-US" sz="8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Support for More Lung Diseases :  </a:t>
            </a:r>
            <a:r>
              <a:rPr lang="en-US" sz="2000" dirty="0">
                <a:latin typeface="Times New Roman" panose="02020603050405020304" pitchFamily="18" charset="0"/>
                <a:cs typeface="Times New Roman" panose="02020603050405020304" pitchFamily="18" charset="0"/>
              </a:rPr>
              <a:t>The model can be extended to detect additional lung conditions such as Lung Cancer, Asthma, Pleural Effusion, and COPD by expanding the dataset and retraining the model with more disease classes.</a:t>
            </a:r>
          </a:p>
          <a:p>
            <a:r>
              <a:rPr lang="en-US" sz="2000" b="1" dirty="0">
                <a:latin typeface="Times New Roman" panose="02020603050405020304" pitchFamily="18" charset="0"/>
                <a:cs typeface="Times New Roman" panose="02020603050405020304" pitchFamily="18" charset="0"/>
              </a:rPr>
              <a:t>Integration with CT Scans and MRI : </a:t>
            </a:r>
            <a:r>
              <a:rPr lang="en-US" sz="2000" dirty="0">
                <a:latin typeface="Times New Roman" panose="02020603050405020304" pitchFamily="18" charset="0"/>
                <a:cs typeface="Times New Roman" panose="02020603050405020304" pitchFamily="18" charset="0"/>
              </a:rPr>
              <a:t>Future versions can support not just X-ray images but also CT scans and MRI images, providing more accurate and detailed diagnosis for complex lung conditions.</a:t>
            </a:r>
          </a:p>
          <a:p>
            <a:r>
              <a:rPr lang="en-US" sz="2000" b="1" dirty="0">
                <a:latin typeface="Times New Roman" panose="02020603050405020304" pitchFamily="18" charset="0"/>
                <a:cs typeface="Times New Roman" panose="02020603050405020304" pitchFamily="18" charset="0"/>
              </a:rPr>
              <a:t>Wearable and IoT Device Integration : </a:t>
            </a:r>
            <a:r>
              <a:rPr lang="en-US" sz="2000" dirty="0">
                <a:latin typeface="Times New Roman" panose="02020603050405020304" pitchFamily="18" charset="0"/>
                <a:cs typeface="Times New Roman" panose="02020603050405020304" pitchFamily="18" charset="0"/>
              </a:rPr>
              <a:t>The system can be extended to integrate with wearable health monitoring devices and IoT sensors to continuously monitor respiratory health and trigger early warnings for lung conditions.</a:t>
            </a: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pPr marL="0" indent="0">
              <a:buNone/>
            </a:pP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4783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References</a:t>
            </a:r>
            <a:r>
              <a:rPr lang="en-US" dirty="0"/>
              <a:t>:</a:t>
            </a:r>
            <a:endParaRPr lang="en-IN" dirty="0"/>
          </a:p>
        </p:txBody>
      </p:sp>
      <p:sp>
        <p:nvSpPr>
          <p:cNvPr id="3" name="Content Placeholder 2"/>
          <p:cNvSpPr>
            <a:spLocks noGrp="1"/>
          </p:cNvSpPr>
          <p:nvPr>
            <p:ph idx="1"/>
          </p:nvPr>
        </p:nvSpPr>
        <p:spPr>
          <a:xfrm>
            <a:off x="838200" y="1565662"/>
            <a:ext cx="10515600" cy="4756197"/>
          </a:xfrm>
        </p:spPr>
        <p:txBody>
          <a:bodyPr>
            <a:normAutofit fontScale="47500" lnSpcReduction="20000"/>
          </a:bodyPr>
          <a:lstStyle/>
          <a:p>
            <a:pPr marL="0" indent="0">
              <a:buNone/>
            </a:pPr>
            <a:r>
              <a:rPr lang="en-IN" sz="3300" dirty="0">
                <a:latin typeface="Times New Roman" panose="02020603050405020304" pitchFamily="18" charset="0"/>
                <a:ea typeface="Tahoma" panose="020B0604030504040204" pitchFamily="34" charset="0"/>
                <a:cs typeface="Times New Roman" panose="02020603050405020304" pitchFamily="18" charset="0"/>
              </a:rPr>
              <a:t>[1] H. </a:t>
            </a:r>
            <a:r>
              <a:rPr lang="en-IN" sz="3300" dirty="0" err="1">
                <a:latin typeface="Times New Roman" panose="02020603050405020304" pitchFamily="18" charset="0"/>
                <a:ea typeface="Tahoma" panose="020B0604030504040204" pitchFamily="34" charset="0"/>
                <a:cs typeface="Times New Roman" panose="02020603050405020304" pitchFamily="18" charset="0"/>
              </a:rPr>
              <a:t>Wedisinghe</a:t>
            </a:r>
            <a:r>
              <a:rPr lang="en-IN" sz="3300" dirty="0">
                <a:latin typeface="Times New Roman" panose="02020603050405020304" pitchFamily="18" charset="0"/>
                <a:ea typeface="Tahoma" panose="020B0604030504040204" pitchFamily="34" charset="0"/>
                <a:cs typeface="Times New Roman" panose="02020603050405020304" pitchFamily="18" charset="0"/>
              </a:rPr>
              <a:t> and T. G. I. Fernando, "Explainable AI for Early Lung Cancer Detection: A Path to Confidence,"         2024 4th International Conference on Advanced Research in Computing (ICARC), </a:t>
            </a:r>
            <a:r>
              <a:rPr lang="en-IN" sz="3300" dirty="0" err="1">
                <a:latin typeface="Times New Roman" panose="02020603050405020304" pitchFamily="18" charset="0"/>
                <a:ea typeface="Tahoma" panose="020B0604030504040204" pitchFamily="34" charset="0"/>
                <a:cs typeface="Times New Roman" panose="02020603050405020304" pitchFamily="18" charset="0"/>
              </a:rPr>
              <a:t>Belihuloya</a:t>
            </a:r>
            <a:r>
              <a:rPr lang="en-IN" sz="3300" dirty="0">
                <a:latin typeface="Times New Roman" panose="02020603050405020304" pitchFamily="18" charset="0"/>
                <a:ea typeface="Tahoma" panose="020B0604030504040204" pitchFamily="34" charset="0"/>
                <a:cs typeface="Times New Roman" panose="02020603050405020304" pitchFamily="18" charset="0"/>
              </a:rPr>
              <a:t>, Sri Lanka, 2024, pp. 13-18, </a:t>
            </a:r>
            <a:r>
              <a:rPr lang="en-IN" sz="3300" dirty="0" err="1">
                <a:latin typeface="Times New Roman" panose="02020603050405020304" pitchFamily="18" charset="0"/>
                <a:ea typeface="Tahoma" panose="020B0604030504040204" pitchFamily="34" charset="0"/>
                <a:cs typeface="Times New Roman" panose="02020603050405020304" pitchFamily="18" charset="0"/>
              </a:rPr>
              <a:t>doi</a:t>
            </a:r>
            <a:r>
              <a:rPr lang="en-IN" sz="3300" dirty="0">
                <a:latin typeface="Times New Roman" panose="02020603050405020304" pitchFamily="18" charset="0"/>
                <a:ea typeface="Tahoma" panose="020B0604030504040204" pitchFamily="34" charset="0"/>
                <a:cs typeface="Times New Roman" panose="02020603050405020304" pitchFamily="18" charset="0"/>
              </a:rPr>
              <a:t>: 10.1109/ICARC61713.2024.10499787. </a:t>
            </a:r>
          </a:p>
          <a:p>
            <a:pPr marL="0" indent="0">
              <a:buNone/>
            </a:pPr>
            <a:r>
              <a:rPr lang="en-IN" sz="3300" dirty="0">
                <a:latin typeface="Times New Roman" panose="02020603050405020304" pitchFamily="18" charset="0"/>
                <a:ea typeface="Tahoma" panose="020B0604030504040204" pitchFamily="34" charset="0"/>
                <a:cs typeface="Times New Roman" panose="02020603050405020304" pitchFamily="18" charset="0"/>
              </a:rPr>
              <a:t>[2] T. </a:t>
            </a:r>
            <a:r>
              <a:rPr lang="en-IN" sz="3300" dirty="0" err="1">
                <a:latin typeface="Times New Roman" panose="02020603050405020304" pitchFamily="18" charset="0"/>
                <a:ea typeface="Tahoma" panose="020B0604030504040204" pitchFamily="34" charset="0"/>
                <a:cs typeface="Times New Roman" panose="02020603050405020304" pitchFamily="18" charset="0"/>
              </a:rPr>
              <a:t>Ruga</a:t>
            </a:r>
            <a:r>
              <a:rPr lang="en-IN" sz="3300" dirty="0">
                <a:latin typeface="Times New Roman" panose="02020603050405020304" pitchFamily="18" charset="0"/>
                <a:ea typeface="Tahoma" panose="020B0604030504040204" pitchFamily="34" charset="0"/>
                <a:cs typeface="Times New Roman" panose="02020603050405020304" pitchFamily="18" charset="0"/>
              </a:rPr>
              <a:t>, E. </a:t>
            </a:r>
            <a:r>
              <a:rPr lang="en-IN" sz="3300" dirty="0" err="1">
                <a:latin typeface="Times New Roman" panose="02020603050405020304" pitchFamily="18" charset="0"/>
                <a:ea typeface="Tahoma" panose="020B0604030504040204" pitchFamily="34" charset="0"/>
                <a:cs typeface="Times New Roman" panose="02020603050405020304" pitchFamily="18" charset="0"/>
              </a:rPr>
              <a:t>Vocaturo</a:t>
            </a:r>
            <a:r>
              <a:rPr lang="en-IN" sz="3300" dirty="0">
                <a:latin typeface="Times New Roman" panose="02020603050405020304" pitchFamily="18" charset="0"/>
                <a:ea typeface="Tahoma" panose="020B0604030504040204" pitchFamily="34" charset="0"/>
                <a:cs typeface="Times New Roman" panose="02020603050405020304" pitchFamily="18" charset="0"/>
              </a:rPr>
              <a:t> and E. </a:t>
            </a:r>
            <a:r>
              <a:rPr lang="en-IN" sz="3300" dirty="0" err="1">
                <a:latin typeface="Times New Roman" panose="02020603050405020304" pitchFamily="18" charset="0"/>
                <a:ea typeface="Tahoma" panose="020B0604030504040204" pitchFamily="34" charset="0"/>
                <a:cs typeface="Times New Roman" panose="02020603050405020304" pitchFamily="18" charset="0"/>
              </a:rPr>
              <a:t>Zumpano</a:t>
            </a:r>
            <a:r>
              <a:rPr lang="en-IN" sz="3300" dirty="0">
                <a:latin typeface="Times New Roman" panose="02020603050405020304" pitchFamily="18" charset="0"/>
                <a:ea typeface="Tahoma" panose="020B0604030504040204" pitchFamily="34" charset="0"/>
                <a:cs typeface="Times New Roman" panose="02020603050405020304" pitchFamily="18" charset="0"/>
              </a:rPr>
              <a:t>, "Explainable Deep Learning for Chest X-Ray Classification," </a:t>
            </a:r>
            <a:r>
              <a:rPr lang="en-IN" sz="3300" i="1" dirty="0">
                <a:latin typeface="Times New Roman" panose="02020603050405020304" pitchFamily="18" charset="0"/>
                <a:ea typeface="Tahoma" panose="020B0604030504040204" pitchFamily="34" charset="0"/>
                <a:cs typeface="Times New Roman" panose="02020603050405020304" pitchFamily="18" charset="0"/>
              </a:rPr>
              <a:t>2024 IEEE International Conference on Bioinformatics and Biomedicine (BIBM)</a:t>
            </a:r>
            <a:r>
              <a:rPr lang="en-IN" sz="3300" dirty="0">
                <a:latin typeface="Times New Roman" panose="02020603050405020304" pitchFamily="18" charset="0"/>
                <a:ea typeface="Tahoma" panose="020B0604030504040204" pitchFamily="34" charset="0"/>
                <a:cs typeface="Times New Roman" panose="02020603050405020304" pitchFamily="18" charset="0"/>
              </a:rPr>
              <a:t>, Lisbon, Portugal, 2024, pp. 6561-6566, </a:t>
            </a:r>
            <a:r>
              <a:rPr lang="en-IN" sz="3300" dirty="0" err="1">
                <a:latin typeface="Times New Roman" panose="02020603050405020304" pitchFamily="18" charset="0"/>
                <a:ea typeface="Tahoma" panose="020B0604030504040204" pitchFamily="34" charset="0"/>
                <a:cs typeface="Times New Roman" panose="02020603050405020304" pitchFamily="18" charset="0"/>
              </a:rPr>
              <a:t>doi</a:t>
            </a:r>
            <a:r>
              <a:rPr lang="en-IN" sz="3300" dirty="0">
                <a:latin typeface="Times New Roman" panose="02020603050405020304" pitchFamily="18" charset="0"/>
                <a:ea typeface="Tahoma" panose="020B0604030504040204" pitchFamily="34" charset="0"/>
                <a:cs typeface="Times New Roman" panose="02020603050405020304" pitchFamily="18" charset="0"/>
              </a:rPr>
              <a:t>: 10.1109/BIBM62325.2024.10822683.</a:t>
            </a:r>
          </a:p>
          <a:p>
            <a:pPr marL="0" indent="0">
              <a:buNone/>
            </a:pPr>
            <a:r>
              <a:rPr lang="en-IN" sz="3300" dirty="0">
                <a:latin typeface="Times New Roman" panose="02020603050405020304" pitchFamily="18" charset="0"/>
                <a:ea typeface="Tahoma" panose="020B0604030504040204" pitchFamily="34" charset="0"/>
                <a:cs typeface="Times New Roman" panose="02020603050405020304" pitchFamily="18" charset="0"/>
              </a:rPr>
              <a:t>[3] A. Alomar, M. </a:t>
            </a:r>
            <a:r>
              <a:rPr lang="en-IN" sz="3300" dirty="0" err="1">
                <a:latin typeface="Times New Roman" panose="02020603050405020304" pitchFamily="18" charset="0"/>
                <a:ea typeface="Tahoma" panose="020B0604030504040204" pitchFamily="34" charset="0"/>
                <a:cs typeface="Times New Roman" panose="02020603050405020304" pitchFamily="18" charset="0"/>
              </a:rPr>
              <a:t>Alazzam</a:t>
            </a:r>
            <a:r>
              <a:rPr lang="en-IN" sz="3300" dirty="0">
                <a:latin typeface="Times New Roman" panose="02020603050405020304" pitchFamily="18" charset="0"/>
                <a:ea typeface="Tahoma" panose="020B0604030504040204" pitchFamily="34" charset="0"/>
                <a:cs typeface="Times New Roman" panose="02020603050405020304" pitchFamily="18" charset="0"/>
              </a:rPr>
              <a:t>, H. Mustafa and A. Mustafa, "Lung Cancer Detection Using Deep Learning and Explainable Methods," </a:t>
            </a:r>
            <a:r>
              <a:rPr lang="en-IN" sz="3300" i="1" dirty="0">
                <a:latin typeface="Times New Roman" panose="02020603050405020304" pitchFamily="18" charset="0"/>
                <a:ea typeface="Tahoma" panose="020B0604030504040204" pitchFamily="34" charset="0"/>
                <a:cs typeface="Times New Roman" panose="02020603050405020304" pitchFamily="18" charset="0"/>
              </a:rPr>
              <a:t>2023 14th International Conference on Information and Communication Systems (ICICS)</a:t>
            </a:r>
            <a:r>
              <a:rPr lang="en-IN" sz="3300" dirty="0">
                <a:latin typeface="Times New Roman" panose="02020603050405020304" pitchFamily="18" charset="0"/>
                <a:ea typeface="Tahoma" panose="020B0604030504040204" pitchFamily="34" charset="0"/>
                <a:cs typeface="Times New Roman" panose="02020603050405020304" pitchFamily="18" charset="0"/>
              </a:rPr>
              <a:t>, Irbid, Jordan, 2023, pp. 1-4, </a:t>
            </a:r>
            <a:r>
              <a:rPr lang="en-IN" sz="3300" dirty="0" err="1">
                <a:latin typeface="Times New Roman" panose="02020603050405020304" pitchFamily="18" charset="0"/>
                <a:ea typeface="Tahoma" panose="020B0604030504040204" pitchFamily="34" charset="0"/>
                <a:cs typeface="Times New Roman" panose="02020603050405020304" pitchFamily="18" charset="0"/>
              </a:rPr>
              <a:t>doi</a:t>
            </a:r>
            <a:r>
              <a:rPr lang="en-IN" sz="3300" dirty="0">
                <a:latin typeface="Times New Roman" panose="02020603050405020304" pitchFamily="18" charset="0"/>
                <a:ea typeface="Tahoma" panose="020B0604030504040204" pitchFamily="34" charset="0"/>
                <a:cs typeface="Times New Roman" panose="02020603050405020304" pitchFamily="18" charset="0"/>
              </a:rPr>
              <a:t>: 10.1109/ICICS60529.2023.10330443</a:t>
            </a:r>
          </a:p>
          <a:p>
            <a:pPr marL="0" indent="0">
              <a:buNone/>
            </a:pPr>
            <a:r>
              <a:rPr lang="en-IN" sz="3300" dirty="0">
                <a:latin typeface="Times New Roman" panose="02020603050405020304" pitchFamily="18" charset="0"/>
                <a:ea typeface="Tahoma" panose="020B0604030504040204" pitchFamily="34" charset="0"/>
                <a:cs typeface="Times New Roman" panose="02020603050405020304" pitchFamily="18" charset="0"/>
              </a:rPr>
              <a:t>[4] M. </a:t>
            </a:r>
            <a:r>
              <a:rPr lang="en-IN" sz="3300" dirty="0" err="1">
                <a:latin typeface="Times New Roman" panose="02020603050405020304" pitchFamily="18" charset="0"/>
                <a:ea typeface="Tahoma" panose="020B0604030504040204" pitchFamily="34" charset="0"/>
                <a:cs typeface="Times New Roman" panose="02020603050405020304" pitchFamily="18" charset="0"/>
              </a:rPr>
              <a:t>Owais</a:t>
            </a:r>
            <a:r>
              <a:rPr lang="en-IN" sz="3300" dirty="0">
                <a:latin typeface="Times New Roman" panose="02020603050405020304" pitchFamily="18" charset="0"/>
                <a:ea typeface="Tahoma" panose="020B0604030504040204" pitchFamily="34" charset="0"/>
                <a:cs typeface="Times New Roman" panose="02020603050405020304" pitchFamily="18" charset="0"/>
              </a:rPr>
              <a:t>, M. </a:t>
            </a:r>
            <a:r>
              <a:rPr lang="en-IN" sz="3300" dirty="0" err="1">
                <a:latin typeface="Times New Roman" panose="02020603050405020304" pitchFamily="18" charset="0"/>
                <a:ea typeface="Tahoma" panose="020B0604030504040204" pitchFamily="34" charset="0"/>
                <a:cs typeface="Times New Roman" panose="02020603050405020304" pitchFamily="18" charset="0"/>
              </a:rPr>
              <a:t>Zubair</a:t>
            </a:r>
            <a:r>
              <a:rPr lang="en-IN" sz="3300" dirty="0">
                <a:latin typeface="Times New Roman" panose="02020603050405020304" pitchFamily="18" charset="0"/>
                <a:ea typeface="Tahoma" panose="020B0604030504040204" pitchFamily="34" charset="0"/>
                <a:cs typeface="Times New Roman" panose="02020603050405020304" pitchFamily="18" charset="0"/>
              </a:rPr>
              <a:t>, L. </a:t>
            </a:r>
            <a:r>
              <a:rPr lang="en-IN" sz="3300" dirty="0" err="1">
                <a:latin typeface="Times New Roman" panose="02020603050405020304" pitchFamily="18" charset="0"/>
                <a:ea typeface="Tahoma" panose="020B0604030504040204" pitchFamily="34" charset="0"/>
                <a:cs typeface="Times New Roman" panose="02020603050405020304" pitchFamily="18" charset="0"/>
              </a:rPr>
              <a:t>Seneviratne</a:t>
            </a:r>
            <a:r>
              <a:rPr lang="en-IN" sz="3300" dirty="0">
                <a:latin typeface="Times New Roman" panose="02020603050405020304" pitchFamily="18" charset="0"/>
                <a:ea typeface="Tahoma" panose="020B0604030504040204" pitchFamily="34" charset="0"/>
                <a:cs typeface="Times New Roman" panose="02020603050405020304" pitchFamily="18" charset="0"/>
              </a:rPr>
              <a:t>, N. </a:t>
            </a:r>
            <a:r>
              <a:rPr lang="en-IN" sz="3300" dirty="0" err="1">
                <a:latin typeface="Times New Roman" panose="02020603050405020304" pitchFamily="18" charset="0"/>
                <a:ea typeface="Tahoma" panose="020B0604030504040204" pitchFamily="34" charset="0"/>
                <a:cs typeface="Times New Roman" panose="02020603050405020304" pitchFamily="18" charset="0"/>
              </a:rPr>
              <a:t>Werghi</a:t>
            </a:r>
            <a:r>
              <a:rPr lang="en-IN" sz="3300" dirty="0">
                <a:latin typeface="Times New Roman" panose="02020603050405020304" pitchFamily="18" charset="0"/>
                <a:ea typeface="Tahoma" panose="020B0604030504040204" pitchFamily="34" charset="0"/>
                <a:cs typeface="Times New Roman" panose="02020603050405020304" pitchFamily="18" charset="0"/>
              </a:rPr>
              <a:t> and I. Hussain, "Unified Synergistic Deep Learning Framework for Multimodal 2-D and 3-D Radiographic Data Analysis: Model Development and Validation," in </a:t>
            </a:r>
            <a:r>
              <a:rPr lang="en-IN" sz="3300" i="1" dirty="0">
                <a:latin typeface="Times New Roman" panose="02020603050405020304" pitchFamily="18" charset="0"/>
                <a:ea typeface="Tahoma" panose="020B0604030504040204" pitchFamily="34" charset="0"/>
                <a:cs typeface="Times New Roman" panose="02020603050405020304" pitchFamily="18" charset="0"/>
              </a:rPr>
              <a:t>IEEE Access</a:t>
            </a:r>
            <a:r>
              <a:rPr lang="en-IN" sz="3300" dirty="0">
                <a:latin typeface="Times New Roman" panose="02020603050405020304" pitchFamily="18" charset="0"/>
                <a:ea typeface="Tahoma" panose="020B0604030504040204" pitchFamily="34" charset="0"/>
                <a:cs typeface="Times New Roman" panose="02020603050405020304" pitchFamily="18" charset="0"/>
              </a:rPr>
              <a:t>, vol. 12, pp. 159688-159705, 2024, </a:t>
            </a:r>
            <a:r>
              <a:rPr lang="en-IN" sz="3300" dirty="0" err="1">
                <a:latin typeface="Times New Roman" panose="02020603050405020304" pitchFamily="18" charset="0"/>
                <a:ea typeface="Tahoma" panose="020B0604030504040204" pitchFamily="34" charset="0"/>
                <a:cs typeface="Times New Roman" panose="02020603050405020304" pitchFamily="18" charset="0"/>
              </a:rPr>
              <a:t>doi</a:t>
            </a:r>
            <a:r>
              <a:rPr lang="en-IN" sz="3300" dirty="0">
                <a:latin typeface="Times New Roman" panose="02020603050405020304" pitchFamily="18" charset="0"/>
                <a:ea typeface="Tahoma" panose="020B0604030504040204" pitchFamily="34" charset="0"/>
                <a:cs typeface="Times New Roman" panose="02020603050405020304" pitchFamily="18" charset="0"/>
              </a:rPr>
              <a:t>: 10.1109/ACCESS.2024.3487575. </a:t>
            </a:r>
          </a:p>
          <a:p>
            <a:pPr marL="0" indent="0">
              <a:buNone/>
            </a:pPr>
            <a:r>
              <a:rPr lang="en-IN" sz="3300" dirty="0">
                <a:latin typeface="Times New Roman" panose="02020603050405020304" pitchFamily="18" charset="0"/>
                <a:ea typeface="Tahoma" panose="020B0604030504040204" pitchFamily="34" charset="0"/>
                <a:cs typeface="Times New Roman" panose="02020603050405020304" pitchFamily="18" charset="0"/>
              </a:rPr>
              <a:t>[5] </a:t>
            </a:r>
            <a:r>
              <a:rPr lang="en-IN" sz="3300" dirty="0" err="1">
                <a:latin typeface="Times New Roman" panose="02020603050405020304" pitchFamily="18" charset="0"/>
                <a:ea typeface="Tahoma" panose="020B0604030504040204" pitchFamily="34" charset="0"/>
                <a:cs typeface="Times New Roman" panose="02020603050405020304" pitchFamily="18" charset="0"/>
              </a:rPr>
              <a:t>Akter</a:t>
            </a:r>
            <a:r>
              <a:rPr lang="en-IN" sz="3300" dirty="0">
                <a:latin typeface="Times New Roman" panose="02020603050405020304" pitchFamily="18" charset="0"/>
                <a:ea typeface="Tahoma" panose="020B0604030504040204" pitchFamily="34" charset="0"/>
                <a:cs typeface="Times New Roman" panose="02020603050405020304" pitchFamily="18" charset="0"/>
              </a:rPr>
              <a:t> S, </a:t>
            </a:r>
            <a:r>
              <a:rPr lang="en-IN" sz="3300" dirty="0" err="1">
                <a:latin typeface="Times New Roman" panose="02020603050405020304" pitchFamily="18" charset="0"/>
                <a:ea typeface="Tahoma" panose="020B0604030504040204" pitchFamily="34" charset="0"/>
                <a:cs typeface="Times New Roman" panose="02020603050405020304" pitchFamily="18" charset="0"/>
              </a:rPr>
              <a:t>Shamrat</a:t>
            </a:r>
            <a:r>
              <a:rPr lang="en-IN" sz="3300" dirty="0">
                <a:latin typeface="Times New Roman" panose="02020603050405020304" pitchFamily="18" charset="0"/>
                <a:ea typeface="Tahoma" panose="020B0604030504040204" pitchFamily="34" charset="0"/>
                <a:cs typeface="Times New Roman" panose="02020603050405020304" pitchFamily="18" charset="0"/>
              </a:rPr>
              <a:t> FMJM, Chakraborty S, Karim A, </a:t>
            </a:r>
            <a:r>
              <a:rPr lang="en-IN" sz="3300" dirty="0" err="1">
                <a:latin typeface="Times New Roman" panose="02020603050405020304" pitchFamily="18" charset="0"/>
                <a:ea typeface="Tahoma" panose="020B0604030504040204" pitchFamily="34" charset="0"/>
                <a:cs typeface="Times New Roman" panose="02020603050405020304" pitchFamily="18" charset="0"/>
              </a:rPr>
              <a:t>Azam</a:t>
            </a:r>
            <a:r>
              <a:rPr lang="en-IN" sz="3300" dirty="0">
                <a:latin typeface="Times New Roman" panose="02020603050405020304" pitchFamily="18" charset="0"/>
                <a:ea typeface="Tahoma" panose="020B0604030504040204" pitchFamily="34" charset="0"/>
                <a:cs typeface="Times New Roman" panose="02020603050405020304" pitchFamily="18" charset="0"/>
              </a:rPr>
              <a:t> S. “COVID-19 Detection Using Deep Learning Algorithm on Chest X-ray Images”. Biology (Basel). 2021 Nov 13;10(11):1174. </a:t>
            </a:r>
            <a:r>
              <a:rPr lang="en-IN" sz="3300" dirty="0" err="1">
                <a:latin typeface="Times New Roman" panose="02020603050405020304" pitchFamily="18" charset="0"/>
                <a:ea typeface="Tahoma" panose="020B0604030504040204" pitchFamily="34" charset="0"/>
                <a:cs typeface="Times New Roman" panose="02020603050405020304" pitchFamily="18" charset="0"/>
              </a:rPr>
              <a:t>doi</a:t>
            </a:r>
            <a:r>
              <a:rPr lang="en-IN" sz="3300" dirty="0">
                <a:latin typeface="Times New Roman" panose="02020603050405020304" pitchFamily="18" charset="0"/>
                <a:ea typeface="Tahoma" panose="020B0604030504040204" pitchFamily="34" charset="0"/>
                <a:cs typeface="Times New Roman" panose="02020603050405020304" pitchFamily="18" charset="0"/>
              </a:rPr>
              <a:t>: 10.3390/biology10111174. PMID: 34827167; PMCID: PMC8614951.</a:t>
            </a:r>
          </a:p>
          <a:p>
            <a:pPr marL="0" indent="0">
              <a:buNone/>
            </a:pPr>
            <a:r>
              <a:rPr lang="en-US" sz="3300" dirty="0">
                <a:latin typeface="Times New Roman" panose="02020603050405020304" pitchFamily="18" charset="0"/>
                <a:ea typeface="Tahoma" panose="020B0604030504040204" pitchFamily="34" charset="0"/>
                <a:cs typeface="Times New Roman" panose="02020603050405020304" pitchFamily="18" charset="0"/>
              </a:rPr>
              <a:t>[6] K. </a:t>
            </a:r>
            <a:r>
              <a:rPr lang="en-US" sz="3300" dirty="0" err="1">
                <a:latin typeface="Times New Roman" panose="02020603050405020304" pitchFamily="18" charset="0"/>
                <a:ea typeface="Tahoma" panose="020B0604030504040204" pitchFamily="34" charset="0"/>
                <a:cs typeface="Times New Roman" panose="02020603050405020304" pitchFamily="18" charset="0"/>
              </a:rPr>
              <a:t>Vij</a:t>
            </a:r>
            <a:r>
              <a:rPr lang="en-US" sz="3300" dirty="0">
                <a:latin typeface="Times New Roman" panose="02020603050405020304" pitchFamily="18" charset="0"/>
                <a:ea typeface="Tahoma" panose="020B0604030504040204" pitchFamily="34" charset="0"/>
                <a:cs typeface="Times New Roman" panose="02020603050405020304" pitchFamily="18" charset="0"/>
              </a:rPr>
              <a:t>, S. Thakur, A. Sharma and R. </a:t>
            </a:r>
            <a:r>
              <a:rPr lang="en-US" sz="3300" dirty="0" err="1">
                <a:latin typeface="Times New Roman" panose="02020603050405020304" pitchFamily="18" charset="0"/>
                <a:ea typeface="Tahoma" panose="020B0604030504040204" pitchFamily="34" charset="0"/>
                <a:cs typeface="Times New Roman" panose="02020603050405020304" pitchFamily="18" charset="0"/>
              </a:rPr>
              <a:t>Mohana</a:t>
            </a:r>
            <a:r>
              <a:rPr lang="en-US" sz="3300" dirty="0">
                <a:latin typeface="Times New Roman" panose="02020603050405020304" pitchFamily="18" charset="0"/>
                <a:ea typeface="Tahoma" panose="020B0604030504040204" pitchFamily="34" charset="0"/>
                <a:cs typeface="Times New Roman" panose="02020603050405020304" pitchFamily="18" charset="0"/>
              </a:rPr>
              <a:t>, "Lung Disease Classification using X-Ray Imaging with Ensemble Learning," </a:t>
            </a:r>
            <a:r>
              <a:rPr lang="en-US" sz="3300" i="1" dirty="0">
                <a:latin typeface="Times New Roman" panose="02020603050405020304" pitchFamily="18" charset="0"/>
                <a:ea typeface="Tahoma" panose="020B0604030504040204" pitchFamily="34" charset="0"/>
                <a:cs typeface="Times New Roman" panose="02020603050405020304" pitchFamily="18" charset="0"/>
              </a:rPr>
              <a:t>2023 11th International Conference on Intelligent Systems and Embedded Design (ISED)</a:t>
            </a:r>
            <a:r>
              <a:rPr lang="en-US" sz="3300" dirty="0">
                <a:latin typeface="Times New Roman" panose="02020603050405020304" pitchFamily="18" charset="0"/>
                <a:ea typeface="Tahoma" panose="020B0604030504040204" pitchFamily="34" charset="0"/>
                <a:cs typeface="Times New Roman" panose="02020603050405020304" pitchFamily="18" charset="0"/>
              </a:rPr>
              <a:t>, Dehradun, India, 2023, pp. 1-5, </a:t>
            </a:r>
            <a:r>
              <a:rPr lang="en-US" sz="3300" dirty="0" err="1">
                <a:latin typeface="Times New Roman" panose="02020603050405020304" pitchFamily="18" charset="0"/>
                <a:ea typeface="Tahoma" panose="020B0604030504040204" pitchFamily="34" charset="0"/>
                <a:cs typeface="Times New Roman" panose="02020603050405020304" pitchFamily="18" charset="0"/>
              </a:rPr>
              <a:t>doi</a:t>
            </a:r>
            <a:r>
              <a:rPr lang="en-US" sz="3300" dirty="0">
                <a:latin typeface="Times New Roman" panose="02020603050405020304" pitchFamily="18" charset="0"/>
                <a:ea typeface="Tahoma" panose="020B0604030504040204" pitchFamily="34" charset="0"/>
                <a:cs typeface="Times New Roman" panose="02020603050405020304" pitchFamily="18" charset="0"/>
              </a:rPr>
              <a:t>: 10.1109/ISED59382.2023.10444592.</a:t>
            </a:r>
          </a:p>
          <a:p>
            <a:pPr marL="0" indent="0">
              <a:buNone/>
            </a:pPr>
            <a:r>
              <a:rPr lang="en-IN" sz="3300" dirty="0">
                <a:latin typeface="Times New Roman" panose="02020603050405020304" pitchFamily="18" charset="0"/>
                <a:ea typeface="Tahoma" panose="020B0604030504040204" pitchFamily="34" charset="0"/>
                <a:cs typeface="Times New Roman" panose="02020603050405020304" pitchFamily="18" charset="0"/>
              </a:rPr>
              <a:t>[7] X. Liu, Z. Yu and L. Tan, "Deep Learning for Lung Disease Classification Using Transfer Learning and a Customized CNN Architecture with Attention," </a:t>
            </a:r>
            <a:r>
              <a:rPr lang="en-IN" sz="3300" i="1" dirty="0">
                <a:latin typeface="Times New Roman" panose="02020603050405020304" pitchFamily="18" charset="0"/>
                <a:ea typeface="Tahoma" panose="020B0604030504040204" pitchFamily="34" charset="0"/>
                <a:cs typeface="Times New Roman" panose="02020603050405020304" pitchFamily="18" charset="0"/>
              </a:rPr>
              <a:t>2024 IEEE 2nd International Conference on Sensors, Electronics and Computer Engineering (ICSECE)</a:t>
            </a:r>
            <a:r>
              <a:rPr lang="en-IN" sz="3300" dirty="0">
                <a:latin typeface="Times New Roman" panose="02020603050405020304" pitchFamily="18" charset="0"/>
                <a:ea typeface="Tahoma" panose="020B0604030504040204" pitchFamily="34" charset="0"/>
                <a:cs typeface="Times New Roman" panose="02020603050405020304" pitchFamily="18" charset="0"/>
              </a:rPr>
              <a:t>, Jinzhou, China, 2024, pp. 341-346, </a:t>
            </a:r>
            <a:r>
              <a:rPr lang="en-IN" sz="3300" dirty="0" err="1">
                <a:latin typeface="Times New Roman" panose="02020603050405020304" pitchFamily="18" charset="0"/>
                <a:ea typeface="Tahoma" panose="020B0604030504040204" pitchFamily="34" charset="0"/>
                <a:cs typeface="Times New Roman" panose="02020603050405020304" pitchFamily="18" charset="0"/>
              </a:rPr>
              <a:t>doi</a:t>
            </a:r>
            <a:r>
              <a:rPr lang="en-IN" sz="3300" dirty="0">
                <a:latin typeface="Times New Roman" panose="02020603050405020304" pitchFamily="18" charset="0"/>
                <a:ea typeface="Tahoma" panose="020B0604030504040204" pitchFamily="34" charset="0"/>
                <a:cs typeface="Times New Roman" panose="02020603050405020304" pitchFamily="18" charset="0"/>
              </a:rPr>
              <a:t>: 10.1109/ICSECE61636.2024.10729291.</a:t>
            </a:r>
          </a:p>
          <a:p>
            <a:endParaRPr lang="en-IN" dirty="0"/>
          </a:p>
          <a:p>
            <a:endParaRPr lang="en-IN" dirty="0"/>
          </a:p>
          <a:p>
            <a:endParaRPr lang="en-IN" dirty="0"/>
          </a:p>
          <a:p>
            <a:endParaRPr lang="en-I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1684421"/>
            <a:ext cx="10515600" cy="2197767"/>
          </a:xfrm>
        </p:spPr>
        <p:txBody>
          <a:bodyPr>
            <a:normAutofit/>
          </a:bodyPr>
          <a:lstStyle/>
          <a:p>
            <a:pPr algn="ctr"/>
            <a:r>
              <a:rPr lang="en-US" b="1" dirty="0">
                <a:latin typeface="Times New Roman" panose="02020603050405020304" pitchFamily="18" charset="0"/>
                <a:cs typeface="Times New Roman" panose="02020603050405020304" pitchFamily="18" charset="0"/>
              </a:rPr>
              <a:t>Thank You</a:t>
            </a:r>
            <a:endParaRPr lang="en-IN" b="1"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1538</TotalTime>
  <Words>2562</Words>
  <Application>Microsoft Office PowerPoint</Application>
  <PresentationFormat>Widescreen</PresentationFormat>
  <Paragraphs>198</Paragraphs>
  <Slides>21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Light</vt:lpstr>
      <vt:lpstr>Times New Roman</vt:lpstr>
      <vt:lpstr>Office Theme</vt:lpstr>
      <vt:lpstr>Department of Information Technology V R Siddhartha Engineering College  </vt:lpstr>
      <vt:lpstr>AGENDA:</vt:lpstr>
      <vt:lpstr>INTRODUCTION</vt:lpstr>
      <vt:lpstr>PROBLEM STATEMENT</vt:lpstr>
      <vt:lpstr>PowerPoint Presentation</vt:lpstr>
      <vt:lpstr>PowerPoint Presentation</vt:lpstr>
      <vt:lpstr>LITERATURE SUMMARY</vt:lpstr>
      <vt:lpstr>DATASETS AND REQUIREMENTS</vt:lpstr>
      <vt:lpstr>Algorithm Involved- MobileNetV2 </vt:lpstr>
      <vt:lpstr>CBAM (Convolutional Block Attention Module)</vt:lpstr>
      <vt:lpstr>K-MEANS</vt:lpstr>
      <vt:lpstr>PowerPoint Presentation</vt:lpstr>
      <vt:lpstr>IMPLEMENTATION STEPS</vt:lpstr>
      <vt:lpstr>PowerPoint Presentation</vt:lpstr>
      <vt:lpstr>RESULTS OBTAINED:</vt:lpstr>
      <vt:lpstr>PowerPoint Presentation</vt:lpstr>
      <vt:lpstr>Result Analysis:</vt:lpstr>
      <vt:lpstr>Result Analysis:</vt:lpstr>
      <vt:lpstr>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Dell</dc:creator>
  <cp:lastModifiedBy>DELL</cp:lastModifiedBy>
  <cp:revision>33</cp:revision>
  <dcterms:created xsi:type="dcterms:W3CDTF">2025-07-23T00:59:00Z</dcterms:created>
  <dcterms:modified xsi:type="dcterms:W3CDTF">2026-04-20T07:21:16Z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BB97C97CA8F54D1FA802EF2E3B4CDFF0_11</vt:lpwstr>
  </property>
  <property fmtid="{D5CDD505-2E9C-101B-9397-08002B2CF9AE}" pid="3" name="KSOProductBuildVer">
    <vt:lpwstr>1033-12.2.0.23196</vt:lpwstr>
  </property>
</Properties>
</file>